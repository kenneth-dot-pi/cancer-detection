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media/image3.jpg" ContentType="image/jpeg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9" r:id="rId3"/>
    <p:sldId id="258" r:id="rId4"/>
    <p:sldId id="263" r:id="rId5"/>
    <p:sldId id="264" r:id="rId6"/>
    <p:sldId id="265" r:id="rId7"/>
    <p:sldId id="266" r:id="rId8"/>
    <p:sldId id="267" r:id="rId9"/>
    <p:sldId id="276" r:id="rId10"/>
    <p:sldId id="274" r:id="rId11"/>
    <p:sldId id="257" r:id="rId12"/>
    <p:sldId id="275" r:id="rId13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>
      <p:cViewPr varScale="1">
        <p:scale>
          <a:sx n="52" d="100"/>
          <a:sy n="52" d="100"/>
        </p:scale>
        <p:origin x="629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F1C6D0-FD58-440F-BFEB-7BE4CA31A730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1A40F1-27EF-4C09-B71E-1010E8445E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738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ECECEC"/>
                </a:solidFill>
                <a:effectLst/>
                <a:latin typeface="Google Sans"/>
              </a:rPr>
              <a:t>Computer vision tasks include methods for acquiring, processing, analyzing, and understanding digital images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1A40F1-27EF-4C09-B71E-1010E8445E1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5563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83B9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0D0D0D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83B9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0D0D0D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83B9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186" y="295275"/>
            <a:ext cx="17820701" cy="99917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83B9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42875"/>
            <a:ext cx="18288000" cy="101441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5129" y="1756435"/>
            <a:ext cx="16777741" cy="6800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83B9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58227" y="2544520"/>
            <a:ext cx="13458825" cy="505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0D0D0D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39347" y="1846598"/>
            <a:ext cx="8409305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IN" sz="4000" dirty="0">
                <a:solidFill>
                  <a:srgbClr val="000000"/>
                </a:solidFill>
              </a:rPr>
              <a:t>Skin Vision AI</a:t>
            </a:r>
            <a:endParaRPr lang="en-IN"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685800" y="8572500"/>
            <a:ext cx="8839836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000" b="1" spc="-35" dirty="0">
                <a:latin typeface="Arial"/>
                <a:cs typeface="Arial"/>
              </a:rPr>
              <a:t>Group</a:t>
            </a:r>
            <a:r>
              <a:rPr sz="3000" b="1" spc="-35" dirty="0">
                <a:latin typeface="Arial"/>
                <a:cs typeface="Arial"/>
              </a:rPr>
              <a:t> </a:t>
            </a:r>
            <a:r>
              <a:rPr lang="en-US" sz="3000" b="1" spc="-35" dirty="0">
                <a:latin typeface="Arial"/>
                <a:cs typeface="Arial"/>
              </a:rPr>
              <a:t>number (assigned by mentor)</a:t>
            </a:r>
            <a:r>
              <a:rPr sz="3000" b="1" dirty="0">
                <a:latin typeface="Arial"/>
                <a:cs typeface="Arial"/>
              </a:rPr>
              <a:t>:</a:t>
            </a:r>
            <a:r>
              <a:rPr sz="3000" b="1" spc="-30" dirty="0">
                <a:latin typeface="Arial"/>
                <a:cs typeface="Arial"/>
              </a:rPr>
              <a:t> </a:t>
            </a:r>
            <a:r>
              <a:rPr lang="en-US" sz="3000" spc="-25" dirty="0">
                <a:solidFill>
                  <a:srgbClr val="1F1F1F"/>
                </a:solidFill>
                <a:latin typeface="Arial MT"/>
                <a:cs typeface="Arial MT"/>
              </a:rPr>
              <a:t>2</a:t>
            </a:r>
            <a:endParaRPr sz="30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43151" y="3086100"/>
            <a:ext cx="14364969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215" marR="5080" indent="-2850515" algn="ctr">
              <a:lnSpc>
                <a:spcPct val="100000"/>
              </a:lnSpc>
              <a:spcBef>
                <a:spcPts val="95"/>
              </a:spcBef>
            </a:pPr>
            <a:r>
              <a:rPr lang="en-US" sz="4000" b="1" dirty="0">
                <a:latin typeface="Arial"/>
                <a:cs typeface="Arial"/>
              </a:rPr>
              <a:t>Revolutionization Skin Cancer Detection </a:t>
            </a:r>
            <a:endParaRPr lang="en-US" sz="4000" dirty="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1" y="761"/>
            <a:ext cx="18286730" cy="10285730"/>
          </a:xfrm>
          <a:custGeom>
            <a:avLst/>
            <a:gdLst/>
            <a:ahLst/>
            <a:cxnLst/>
            <a:rect l="l" t="t" r="r" b="b"/>
            <a:pathLst>
              <a:path w="18286730" h="10285730">
                <a:moveTo>
                  <a:pt x="0" y="0"/>
                </a:moveTo>
                <a:lnTo>
                  <a:pt x="18286476" y="0"/>
                </a:lnTo>
                <a:lnTo>
                  <a:pt x="18286476" y="10285476"/>
                </a:lnTo>
                <a:lnTo>
                  <a:pt x="0" y="10285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EC5EB3-8C67-43B9-1222-FA14D7DC24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499" y="4326800"/>
            <a:ext cx="6477000" cy="36697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000000"/>
                </a:solidFill>
              </a:rPr>
              <a:t>Problem</a:t>
            </a:r>
            <a:r>
              <a:rPr sz="4000" spc="-80" dirty="0">
                <a:solidFill>
                  <a:srgbClr val="000000"/>
                </a:solidFill>
              </a:rPr>
              <a:t> </a:t>
            </a:r>
            <a:r>
              <a:rPr sz="4000" spc="-10" dirty="0">
                <a:solidFill>
                  <a:srgbClr val="000000"/>
                </a:solidFill>
              </a:rPr>
              <a:t>Statement:</a:t>
            </a:r>
            <a:endParaRPr sz="40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E45DB8C-46B9-843E-5484-E1BE97A5F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853344"/>
            <a:ext cx="17907000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deep learning aids accurate, fast, multi-class skin cancer detection.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8331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00AF50"/>
                </a:solidFill>
              </a:rPr>
              <a:t>Concept</a:t>
            </a:r>
            <a:r>
              <a:rPr sz="4000" spc="-65" dirty="0">
                <a:solidFill>
                  <a:srgbClr val="00AF50"/>
                </a:solidFill>
              </a:rPr>
              <a:t> </a:t>
            </a:r>
            <a:r>
              <a:rPr sz="4000" dirty="0">
                <a:solidFill>
                  <a:srgbClr val="00AF50"/>
                </a:solidFill>
              </a:rPr>
              <a:t>behind</a:t>
            </a:r>
            <a:r>
              <a:rPr sz="4000" spc="-65" dirty="0">
                <a:solidFill>
                  <a:srgbClr val="00AF50"/>
                </a:solidFill>
              </a:rPr>
              <a:t> </a:t>
            </a:r>
            <a:r>
              <a:rPr sz="4000" dirty="0">
                <a:solidFill>
                  <a:srgbClr val="00AF50"/>
                </a:solidFill>
              </a:rPr>
              <a:t>proposed</a:t>
            </a:r>
            <a:r>
              <a:rPr sz="4000" spc="-60" dirty="0">
                <a:solidFill>
                  <a:srgbClr val="00AF50"/>
                </a:solidFill>
              </a:rPr>
              <a:t> </a:t>
            </a:r>
            <a:r>
              <a:rPr sz="4000" spc="-10" dirty="0">
                <a:solidFill>
                  <a:srgbClr val="00AF50"/>
                </a:solidFill>
              </a:rPr>
              <a:t>solution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793229" y="2898178"/>
            <a:ext cx="13458825" cy="68454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0" marR="5080" indent="-419100" algn="just">
              <a:lnSpc>
                <a:spcPct val="150000"/>
              </a:lnSpc>
              <a:buSzPct val="107142"/>
              <a:buFont typeface="Arial MT"/>
              <a:buChar char="●"/>
              <a:tabLst>
                <a:tab pos="431800" algn="l"/>
              </a:tabLst>
            </a:pPr>
            <a:r>
              <a:rPr lang="en-IN" sz="4000" b="1" spc="-10" dirty="0">
                <a:latin typeface="Times New Roman"/>
                <a:cs typeface="Times New Roman"/>
              </a:rPr>
              <a:t>Leveraging deep learning for skin cancer detection.</a:t>
            </a:r>
          </a:p>
          <a:p>
            <a:pPr marL="431800" marR="5080" indent="-419100" algn="just">
              <a:lnSpc>
                <a:spcPct val="150000"/>
              </a:lnSpc>
              <a:buSzPct val="107142"/>
              <a:buFont typeface="Arial MT"/>
              <a:buChar char="●"/>
              <a:tabLst>
                <a:tab pos="431800" algn="l"/>
              </a:tabLst>
            </a:pPr>
            <a:r>
              <a:rPr lang="en-IN" sz="4000" b="1" spc="-10" dirty="0">
                <a:latin typeface="Times New Roman"/>
                <a:cs typeface="Times New Roman"/>
              </a:rPr>
              <a:t>Classifying skin lesions using neural network. </a:t>
            </a:r>
          </a:p>
          <a:p>
            <a:pPr marL="431800" marR="5080" indent="-419100" algn="just">
              <a:lnSpc>
                <a:spcPct val="150000"/>
              </a:lnSpc>
              <a:buSzPct val="107142"/>
              <a:buFont typeface="Arial MT"/>
              <a:buChar char="●"/>
              <a:tabLst>
                <a:tab pos="431800" algn="l"/>
              </a:tabLst>
            </a:pPr>
            <a:r>
              <a:rPr lang="en-IN" sz="4000" b="1" spc="-10" dirty="0">
                <a:latin typeface="Times New Roman"/>
                <a:cs typeface="Times New Roman"/>
              </a:rPr>
              <a:t>Automated skin cancer detection using AI.</a:t>
            </a:r>
          </a:p>
          <a:p>
            <a:pPr marL="431800" marR="5080" indent="-419100" algn="just">
              <a:lnSpc>
                <a:spcPct val="150000"/>
              </a:lnSpc>
              <a:buSzPct val="107142"/>
              <a:buFont typeface="Arial MT"/>
              <a:buChar char="●"/>
              <a:tabLst>
                <a:tab pos="431800" algn="l"/>
              </a:tabLst>
            </a:pPr>
            <a:r>
              <a:rPr lang="en-IN" sz="4000" b="1" spc="-10" dirty="0">
                <a:latin typeface="Times New Roman"/>
                <a:cs typeface="Times New Roman"/>
              </a:rPr>
              <a:t>Evaluating CNN model on test dataset .</a:t>
            </a:r>
          </a:p>
          <a:p>
            <a:pPr marL="431800" marR="5080" indent="-419100" algn="just">
              <a:lnSpc>
                <a:spcPct val="150000"/>
              </a:lnSpc>
              <a:buSzPct val="107142"/>
              <a:buFont typeface="Arial MT"/>
              <a:buChar char="●"/>
              <a:tabLst>
                <a:tab pos="431800" algn="l"/>
              </a:tabLst>
            </a:pPr>
            <a:r>
              <a:rPr lang="en-IN" sz="4000" b="1" spc="-10" dirty="0">
                <a:latin typeface="Times New Roman"/>
                <a:cs typeface="Times New Roman"/>
              </a:rPr>
              <a:t>Enhancing efficiency in lesion classification process.</a:t>
            </a:r>
          </a:p>
          <a:p>
            <a:pPr marL="431800" marR="5080" indent="-419100" algn="just">
              <a:lnSpc>
                <a:spcPct val="150000"/>
              </a:lnSpc>
              <a:buSzPct val="107142"/>
              <a:buFont typeface="Arial MT"/>
              <a:buChar char="●"/>
              <a:tabLst>
                <a:tab pos="431800" algn="l"/>
              </a:tabLst>
            </a:pPr>
            <a:r>
              <a:rPr lang="en-IN" sz="4000" b="1" spc="-10" dirty="0">
                <a:latin typeface="Times New Roman"/>
                <a:cs typeface="Times New Roman"/>
              </a:rPr>
              <a:t>Supporting better outcomes for skin patients.</a:t>
            </a:r>
            <a:endParaRPr lang="en-US" sz="4000" b="1" spc="-10" dirty="0">
              <a:latin typeface="Times New Roman"/>
              <a:cs typeface="Times New Roman"/>
            </a:endParaRPr>
          </a:p>
          <a:p>
            <a:pPr>
              <a:buNone/>
            </a:pPr>
            <a:endParaRPr lang="en-US" sz="2800" dirty="0"/>
          </a:p>
          <a:p>
            <a:pPr>
              <a:buNone/>
            </a:pPr>
            <a:br>
              <a:rPr lang="en-US" sz="2800" dirty="0"/>
            </a:br>
            <a:endParaRPr lang="en-US" sz="2800" dirty="0">
              <a:latin typeface="Times New Roman"/>
              <a:cs typeface="Times New Roman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5A3AF0D-7A5B-D90D-42E6-735051FF9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Leveraging deep learning for skin cancer detection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5015" y="1500504"/>
            <a:ext cx="12454255" cy="1243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000000"/>
                </a:solidFill>
                <a:latin typeface="Times New Roman"/>
                <a:cs typeface="Times New Roman"/>
              </a:rPr>
              <a:t>Description</a:t>
            </a:r>
            <a:r>
              <a:rPr sz="4000" spc="-1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4000" spc="-1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000000"/>
                </a:solidFill>
                <a:latin typeface="Times New Roman"/>
                <a:cs typeface="Times New Roman"/>
              </a:rPr>
              <a:t>techniques</a:t>
            </a:r>
            <a:r>
              <a:rPr sz="4000" spc="-1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4000" spc="-1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000000"/>
                </a:solidFill>
                <a:latin typeface="Times New Roman"/>
                <a:cs typeface="Times New Roman"/>
              </a:rPr>
              <a:t>technology</a:t>
            </a:r>
            <a:r>
              <a:rPr sz="4000" spc="-1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000000"/>
                </a:solidFill>
                <a:latin typeface="Times New Roman"/>
                <a:cs typeface="Times New Roman"/>
              </a:rPr>
              <a:t>used</a:t>
            </a:r>
            <a:r>
              <a:rPr sz="4000" spc="-1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000000"/>
                </a:solidFill>
                <a:latin typeface="Times New Roman"/>
                <a:cs typeface="Times New Roman"/>
              </a:rPr>
              <a:t>in</a:t>
            </a:r>
            <a:r>
              <a:rPr sz="4000" spc="-1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000000"/>
                </a:solidFill>
                <a:latin typeface="Times New Roman"/>
                <a:cs typeface="Times New Roman"/>
              </a:rPr>
              <a:t>creative </a:t>
            </a:r>
            <a:r>
              <a:rPr sz="4000" dirty="0">
                <a:solidFill>
                  <a:srgbClr val="000000"/>
                </a:solidFill>
                <a:latin typeface="Times New Roman"/>
                <a:cs typeface="Times New Roman"/>
              </a:rPr>
              <a:t>solution</a:t>
            </a:r>
            <a:r>
              <a:rPr sz="4000" spc="-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  <a:r>
              <a:rPr sz="40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000000"/>
                </a:solidFill>
                <a:latin typeface="Times New Roman"/>
                <a:cs typeface="Times New Roman"/>
              </a:rPr>
              <a:t>reach</a:t>
            </a:r>
            <a:r>
              <a:rPr sz="40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40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000000"/>
                </a:solidFill>
                <a:latin typeface="Times New Roman"/>
                <a:cs typeface="Times New Roman"/>
              </a:rPr>
              <a:t>specific</a:t>
            </a:r>
            <a:r>
              <a:rPr sz="40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spc="-20" dirty="0">
                <a:solidFill>
                  <a:srgbClr val="000000"/>
                </a:solidFill>
                <a:latin typeface="Times New Roman"/>
                <a:cs typeface="Times New Roman"/>
              </a:rPr>
              <a:t>goal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064" y="2896108"/>
            <a:ext cx="13616305" cy="4724400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352425" indent="-301625">
              <a:lnSpc>
                <a:spcPct val="100000"/>
              </a:lnSpc>
              <a:spcBef>
                <a:spcPts val="1440"/>
              </a:spcBef>
              <a:buAutoNum type="arabicParenR"/>
              <a:tabLst>
                <a:tab pos="352425" algn="l"/>
              </a:tabLst>
            </a:pPr>
            <a:r>
              <a:rPr sz="2200" b="1" dirty="0">
                <a:latin typeface="Times New Roman"/>
                <a:cs typeface="Times New Roman"/>
              </a:rPr>
              <a:t>Dataset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: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Ham10000</a:t>
            </a:r>
            <a:endParaRPr sz="2200" dirty="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340"/>
              </a:spcBef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dataset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contains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10,015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dermoscopy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images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seven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skin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cancer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types.</a:t>
            </a:r>
            <a:endParaRPr sz="2200" dirty="0">
              <a:latin typeface="Arial MT"/>
              <a:cs typeface="Arial MT"/>
            </a:endParaRPr>
          </a:p>
          <a:p>
            <a:pPr marL="454025" indent="-403225">
              <a:lnSpc>
                <a:spcPct val="100000"/>
              </a:lnSpc>
              <a:spcBef>
                <a:spcPts val="1315"/>
              </a:spcBef>
              <a:buClr>
                <a:srgbClr val="0D0D0D"/>
              </a:buClr>
              <a:buFont typeface="Arial MT"/>
              <a:buAutoNum type="arabicParenR" startAt="2"/>
              <a:tabLst>
                <a:tab pos="454025" algn="l"/>
              </a:tabLst>
            </a:pPr>
            <a:r>
              <a:rPr sz="2200" b="1" spc="-10" dirty="0">
                <a:latin typeface="Times New Roman"/>
                <a:cs typeface="Times New Roman"/>
              </a:rPr>
              <a:t>Preprocessing:</a:t>
            </a:r>
            <a:endParaRPr sz="2200" dirty="0">
              <a:latin typeface="Times New Roman"/>
              <a:cs typeface="Times New Roman"/>
            </a:endParaRPr>
          </a:p>
          <a:p>
            <a:pPr marL="297815" lvl="1" indent="-285115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297815" algn="l"/>
              </a:tabLst>
            </a:pPr>
            <a:r>
              <a:rPr sz="2200" dirty="0">
                <a:latin typeface="Times New Roman"/>
                <a:cs typeface="Times New Roman"/>
              </a:rPr>
              <a:t>Splitting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datasets</a:t>
            </a:r>
            <a:endParaRPr sz="2200" dirty="0">
              <a:latin typeface="Times New Roman"/>
              <a:cs typeface="Times New Roman"/>
            </a:endParaRPr>
          </a:p>
          <a:p>
            <a:pPr marL="367665" lvl="1" indent="-354965">
              <a:lnSpc>
                <a:spcPct val="100000"/>
              </a:lnSpc>
              <a:buFont typeface="Arial MT"/>
              <a:buChar char="•"/>
              <a:tabLst>
                <a:tab pos="367665" algn="l"/>
              </a:tabLst>
            </a:pPr>
            <a:r>
              <a:rPr sz="2200" dirty="0">
                <a:latin typeface="Times New Roman"/>
                <a:cs typeface="Times New Roman"/>
              </a:rPr>
              <a:t>Handle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duplicate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image</a:t>
            </a:r>
            <a:endParaRPr sz="2200" dirty="0">
              <a:latin typeface="Times New Roman"/>
              <a:cs typeface="Times New Roman"/>
            </a:endParaRPr>
          </a:p>
          <a:p>
            <a:pPr marL="367665" lvl="1" indent="-354965">
              <a:lnSpc>
                <a:spcPct val="100000"/>
              </a:lnSpc>
              <a:buFont typeface="Arial MT"/>
              <a:buChar char="•"/>
              <a:tabLst>
                <a:tab pos="367665" algn="l"/>
              </a:tabLst>
            </a:pPr>
            <a:r>
              <a:rPr sz="2200" dirty="0">
                <a:latin typeface="Times New Roman"/>
                <a:cs typeface="Times New Roman"/>
              </a:rPr>
              <a:t>labelling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images</a:t>
            </a:r>
            <a:endParaRPr sz="2200" dirty="0">
              <a:latin typeface="Times New Roman"/>
              <a:cs typeface="Times New Roman"/>
            </a:endParaRPr>
          </a:p>
          <a:p>
            <a:pPr marL="367665" lvl="1" indent="-354965">
              <a:lnSpc>
                <a:spcPct val="100000"/>
              </a:lnSpc>
              <a:buFont typeface="Arial MT"/>
              <a:buChar char="•"/>
              <a:tabLst>
                <a:tab pos="367665" algn="l"/>
              </a:tabLst>
            </a:pPr>
            <a:r>
              <a:rPr sz="2200" spc="-10" dirty="0">
                <a:latin typeface="Times New Roman"/>
                <a:cs typeface="Times New Roman"/>
              </a:rPr>
              <a:t>Normalisation.</a:t>
            </a:r>
            <a:endParaRPr sz="2200" dirty="0">
              <a:latin typeface="Times New Roman"/>
              <a:cs typeface="Times New Roman"/>
            </a:endParaRPr>
          </a:p>
          <a:p>
            <a:pPr marL="367665" lvl="1" indent="-354965">
              <a:lnSpc>
                <a:spcPct val="100000"/>
              </a:lnSpc>
              <a:buFont typeface="Arial MT"/>
              <a:buChar char="•"/>
              <a:tabLst>
                <a:tab pos="367665" algn="l"/>
              </a:tabLst>
            </a:pPr>
            <a:r>
              <a:rPr sz="2200" spc="-10" dirty="0">
                <a:latin typeface="Times New Roman"/>
                <a:cs typeface="Times New Roman"/>
              </a:rPr>
              <a:t>Reshaping</a:t>
            </a:r>
            <a:endParaRPr sz="2200" dirty="0">
              <a:latin typeface="Times New Roman"/>
              <a:cs typeface="Times New Roman"/>
            </a:endParaRPr>
          </a:p>
          <a:p>
            <a:pPr marL="375920" indent="-325120">
              <a:lnSpc>
                <a:spcPct val="100000"/>
              </a:lnSpc>
              <a:spcBef>
                <a:spcPts val="1120"/>
              </a:spcBef>
              <a:buFont typeface="Arial MT"/>
              <a:buAutoNum type="arabicParenR" startAt="3"/>
              <a:tabLst>
                <a:tab pos="375920" algn="l"/>
              </a:tabLst>
            </a:pPr>
            <a:r>
              <a:rPr sz="2200" b="1" dirty="0">
                <a:solidFill>
                  <a:srgbClr val="0D0D0D"/>
                </a:solidFill>
                <a:latin typeface="Arial"/>
                <a:cs typeface="Arial"/>
              </a:rPr>
              <a:t>Classification</a:t>
            </a:r>
            <a:r>
              <a:rPr sz="2200" b="1" spc="-7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D0D0D"/>
                </a:solidFill>
                <a:latin typeface="Arial"/>
                <a:cs typeface="Arial"/>
              </a:rPr>
              <a:t>model</a:t>
            </a:r>
            <a:r>
              <a:rPr sz="2200" b="1" spc="-70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D0D0D"/>
                </a:solidFill>
                <a:latin typeface="Arial"/>
                <a:cs typeface="Arial"/>
              </a:rPr>
              <a:t>:</a:t>
            </a:r>
            <a:r>
              <a:rPr lang="en-IN" sz="2400" b="1" dirty="0">
                <a:latin typeface="Times New Roman"/>
                <a:cs typeface="Times New Roman"/>
              </a:rPr>
              <a:t> </a:t>
            </a:r>
            <a:r>
              <a:rPr lang="en-IN" sz="2400" dirty="0">
                <a:latin typeface="Times New Roman"/>
                <a:cs typeface="Times New Roman"/>
              </a:rPr>
              <a:t>Inception-ResNetv2</a:t>
            </a:r>
            <a:r>
              <a:rPr lang="en-IN" sz="2400" b="1" dirty="0">
                <a:latin typeface="Times New Roman"/>
                <a:cs typeface="Times New Roman"/>
              </a:rPr>
              <a:t> </a:t>
            </a:r>
            <a:r>
              <a:rPr sz="2200" b="1" spc="-7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lang="en-US" sz="2200" dirty="0">
                <a:solidFill>
                  <a:srgbClr val="0D0D0D"/>
                </a:solidFill>
                <a:latin typeface="Arial MT"/>
                <a:cs typeface="Arial MT"/>
              </a:rPr>
              <a:t>Convolution Neural Network</a:t>
            </a:r>
            <a:endParaRPr sz="2200" dirty="0">
              <a:latin typeface="Arial MT"/>
              <a:cs typeface="Arial MT"/>
            </a:endParaRPr>
          </a:p>
          <a:p>
            <a:pPr marL="50800" marR="5080" indent="330835">
              <a:lnSpc>
                <a:spcPct val="150000"/>
              </a:lnSpc>
              <a:buFont typeface="Arial MT"/>
              <a:buAutoNum type="arabicParenR" startAt="3"/>
              <a:tabLst>
                <a:tab pos="381635" algn="l"/>
              </a:tabLst>
            </a:pPr>
            <a:r>
              <a:rPr sz="2200" b="1" dirty="0">
                <a:solidFill>
                  <a:srgbClr val="0D0D0D"/>
                </a:solidFill>
                <a:latin typeface="Arial"/>
                <a:cs typeface="Arial"/>
              </a:rPr>
              <a:t>Fine</a:t>
            </a:r>
            <a:r>
              <a:rPr sz="2200" b="1" spc="6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D0D0D"/>
                </a:solidFill>
                <a:latin typeface="Arial"/>
                <a:cs typeface="Arial"/>
              </a:rPr>
              <a:t>Tuning</a:t>
            </a:r>
            <a:r>
              <a:rPr sz="2200" b="1" spc="70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D0D0D"/>
                </a:solidFill>
                <a:latin typeface="Arial"/>
                <a:cs typeface="Arial"/>
              </a:rPr>
              <a:t>:</a:t>
            </a:r>
            <a:r>
              <a:rPr sz="2200" b="1" spc="6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200" dirty="0">
                <a:latin typeface="Arial MT"/>
                <a:cs typeface="Arial MT"/>
              </a:rPr>
              <a:t>Fine-tuning</a:t>
            </a:r>
            <a:r>
              <a:rPr sz="2200" spc="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technique</a:t>
            </a:r>
            <a:r>
              <a:rPr sz="2200" spc="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used</a:t>
            </a:r>
            <a:r>
              <a:rPr sz="2200" spc="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improve</a:t>
            </a:r>
            <a:r>
              <a:rPr sz="2200" spc="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performance</a:t>
            </a:r>
            <a:r>
              <a:rPr sz="2200" spc="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pre-trained</a:t>
            </a:r>
            <a:r>
              <a:rPr sz="2200" spc="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deep</a:t>
            </a:r>
            <a:r>
              <a:rPr sz="2200" spc="6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learning </a:t>
            </a:r>
            <a:r>
              <a:rPr sz="2200" dirty="0">
                <a:latin typeface="Arial MT"/>
                <a:cs typeface="Arial MT"/>
              </a:rPr>
              <a:t>model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new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task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or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dataset</a:t>
            </a:r>
            <a:endParaRPr sz="22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000000"/>
                </a:solidFill>
                <a:latin typeface="Times New Roman"/>
                <a:cs typeface="Times New Roman"/>
              </a:rPr>
              <a:t>Project’s</a:t>
            </a:r>
            <a:r>
              <a:rPr sz="4000" spc="-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000000"/>
                </a:solidFill>
                <a:latin typeface="Times New Roman"/>
                <a:cs typeface="Times New Roman"/>
              </a:rPr>
              <a:t>purpose</a:t>
            </a:r>
            <a:r>
              <a:rPr sz="4000" spc="-1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4000" spc="-1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000000"/>
                </a:solidFill>
                <a:latin typeface="Times New Roman"/>
                <a:cs typeface="Times New Roman"/>
              </a:rPr>
              <a:t>goals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058227" y="2544520"/>
            <a:ext cx="13458825" cy="49303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0" marR="5080" indent="-419100">
              <a:lnSpc>
                <a:spcPct val="150000"/>
              </a:lnSpc>
              <a:spcBef>
                <a:spcPts val="100"/>
              </a:spcBef>
              <a:buClr>
                <a:srgbClr val="000000"/>
              </a:buClr>
              <a:buSzPct val="136363"/>
              <a:buChar char="●"/>
              <a:tabLst>
                <a:tab pos="431800" algn="l"/>
              </a:tabLst>
            </a:pPr>
            <a:r>
              <a:rPr sz="2400" dirty="0"/>
              <a:t>Develop</a:t>
            </a:r>
            <a:r>
              <a:rPr sz="2400" spc="254" dirty="0"/>
              <a:t> </a:t>
            </a:r>
            <a:r>
              <a:rPr sz="2400" dirty="0"/>
              <a:t>a</a:t>
            </a:r>
            <a:r>
              <a:rPr sz="2400" spc="260" dirty="0"/>
              <a:t> </a:t>
            </a:r>
            <a:r>
              <a:rPr sz="2400" dirty="0"/>
              <a:t>deep</a:t>
            </a:r>
            <a:r>
              <a:rPr sz="2400" spc="254" dirty="0"/>
              <a:t> </a:t>
            </a:r>
            <a:r>
              <a:rPr sz="2400" dirty="0"/>
              <a:t>convolutional</a:t>
            </a:r>
            <a:r>
              <a:rPr sz="2400" spc="270" dirty="0"/>
              <a:t> </a:t>
            </a:r>
            <a:r>
              <a:rPr sz="2400" dirty="0"/>
              <a:t>neural</a:t>
            </a:r>
            <a:r>
              <a:rPr sz="2400" spc="270" dirty="0"/>
              <a:t> </a:t>
            </a:r>
            <a:r>
              <a:rPr sz="2400" dirty="0"/>
              <a:t>network</a:t>
            </a:r>
            <a:r>
              <a:rPr sz="2400" spc="270" dirty="0"/>
              <a:t> </a:t>
            </a:r>
            <a:r>
              <a:rPr sz="2400" dirty="0"/>
              <a:t>architecture</a:t>
            </a:r>
            <a:r>
              <a:rPr sz="2400" spc="270" dirty="0"/>
              <a:t> </a:t>
            </a:r>
            <a:r>
              <a:rPr sz="2400" dirty="0"/>
              <a:t>for</a:t>
            </a:r>
            <a:r>
              <a:rPr sz="2400" spc="270" dirty="0"/>
              <a:t> </a:t>
            </a:r>
            <a:r>
              <a:rPr sz="2400" dirty="0"/>
              <a:t>skin</a:t>
            </a:r>
            <a:r>
              <a:rPr sz="2400" spc="270" dirty="0"/>
              <a:t> </a:t>
            </a:r>
            <a:r>
              <a:rPr sz="2400" dirty="0"/>
              <a:t>cancer</a:t>
            </a:r>
            <a:r>
              <a:rPr sz="2400" spc="270" dirty="0"/>
              <a:t> </a:t>
            </a:r>
            <a:r>
              <a:rPr sz="2400" dirty="0"/>
              <a:t>classification</a:t>
            </a:r>
            <a:r>
              <a:rPr sz="2400" spc="270" dirty="0"/>
              <a:t> </a:t>
            </a:r>
            <a:r>
              <a:rPr sz="2400" dirty="0"/>
              <a:t>that</a:t>
            </a:r>
            <a:r>
              <a:rPr sz="2400" spc="265" dirty="0"/>
              <a:t> </a:t>
            </a:r>
            <a:r>
              <a:rPr sz="2400" dirty="0"/>
              <a:t>can</a:t>
            </a:r>
            <a:r>
              <a:rPr sz="2400" spc="270" dirty="0"/>
              <a:t> </a:t>
            </a:r>
            <a:r>
              <a:rPr sz="2400" spc="-10" dirty="0"/>
              <a:t>learn </a:t>
            </a:r>
            <a:r>
              <a:rPr sz="2400" dirty="0"/>
              <a:t>relevant</a:t>
            </a:r>
            <a:r>
              <a:rPr sz="2400" spc="-60" dirty="0"/>
              <a:t> </a:t>
            </a:r>
            <a:r>
              <a:rPr sz="2400" dirty="0"/>
              <a:t>features</a:t>
            </a:r>
            <a:r>
              <a:rPr sz="2400" spc="-55" dirty="0"/>
              <a:t> </a:t>
            </a:r>
            <a:r>
              <a:rPr sz="2400" dirty="0"/>
              <a:t>from</a:t>
            </a:r>
            <a:r>
              <a:rPr sz="2400" spc="-45" dirty="0"/>
              <a:t> </a:t>
            </a:r>
            <a:r>
              <a:rPr sz="2400" dirty="0"/>
              <a:t>skin</a:t>
            </a:r>
            <a:r>
              <a:rPr sz="2400" spc="-55" dirty="0"/>
              <a:t> </a:t>
            </a:r>
            <a:r>
              <a:rPr sz="2400" dirty="0"/>
              <a:t>lesion</a:t>
            </a:r>
            <a:r>
              <a:rPr sz="2400" spc="-50" dirty="0"/>
              <a:t> </a:t>
            </a:r>
            <a:r>
              <a:rPr sz="2400" dirty="0"/>
              <a:t>images</a:t>
            </a:r>
            <a:r>
              <a:rPr sz="2400" spc="-55" dirty="0"/>
              <a:t> </a:t>
            </a:r>
            <a:r>
              <a:rPr sz="2400" dirty="0"/>
              <a:t>and</a:t>
            </a:r>
            <a:r>
              <a:rPr sz="2400" spc="-55" dirty="0"/>
              <a:t> </a:t>
            </a:r>
            <a:r>
              <a:rPr sz="2400" dirty="0"/>
              <a:t>accurately</a:t>
            </a:r>
            <a:r>
              <a:rPr sz="2400" spc="-50" dirty="0"/>
              <a:t> </a:t>
            </a:r>
            <a:r>
              <a:rPr sz="2400" dirty="0"/>
              <a:t>classify</a:t>
            </a:r>
            <a:r>
              <a:rPr sz="2400" spc="-55" dirty="0"/>
              <a:t> </a:t>
            </a:r>
            <a:r>
              <a:rPr sz="2400" dirty="0"/>
              <a:t>them</a:t>
            </a:r>
            <a:r>
              <a:rPr sz="2400" spc="-45" dirty="0"/>
              <a:t> </a:t>
            </a:r>
            <a:r>
              <a:rPr sz="2400" dirty="0"/>
              <a:t>as</a:t>
            </a:r>
            <a:r>
              <a:rPr sz="2400" spc="-55" dirty="0"/>
              <a:t> </a:t>
            </a:r>
            <a:r>
              <a:rPr sz="2400" dirty="0"/>
              <a:t>benign</a:t>
            </a:r>
            <a:r>
              <a:rPr sz="2400" spc="-55" dirty="0"/>
              <a:t> </a:t>
            </a:r>
            <a:r>
              <a:rPr sz="2400" dirty="0"/>
              <a:t>or</a:t>
            </a:r>
            <a:r>
              <a:rPr sz="2400" spc="-50" dirty="0"/>
              <a:t> </a:t>
            </a:r>
            <a:r>
              <a:rPr sz="2400" spc="-10" dirty="0"/>
              <a:t>malignant.</a:t>
            </a:r>
          </a:p>
          <a:p>
            <a:pPr marL="431800" marR="5080" indent="-419100">
              <a:lnSpc>
                <a:spcPct val="150000"/>
              </a:lnSpc>
              <a:buClr>
                <a:srgbClr val="000000"/>
              </a:buClr>
              <a:buSzPct val="136363"/>
              <a:buChar char="●"/>
              <a:tabLst>
                <a:tab pos="431800" algn="l"/>
              </a:tabLst>
            </a:pPr>
            <a:r>
              <a:rPr sz="2400" spc="65" dirty="0"/>
              <a:t>Train</a:t>
            </a:r>
            <a:r>
              <a:rPr sz="2400" spc="210" dirty="0"/>
              <a:t> </a:t>
            </a:r>
            <a:r>
              <a:rPr sz="2400" spc="50" dirty="0"/>
              <a:t>the</a:t>
            </a:r>
            <a:r>
              <a:rPr sz="2400" spc="210" dirty="0"/>
              <a:t> </a:t>
            </a:r>
            <a:r>
              <a:rPr sz="2400" spc="70" dirty="0"/>
              <a:t>proposed</a:t>
            </a:r>
            <a:r>
              <a:rPr sz="2400" spc="210" dirty="0"/>
              <a:t> </a:t>
            </a:r>
            <a:r>
              <a:rPr sz="2400" spc="65" dirty="0"/>
              <a:t>model</a:t>
            </a:r>
            <a:r>
              <a:rPr sz="2400" spc="210" dirty="0"/>
              <a:t> </a:t>
            </a:r>
            <a:r>
              <a:rPr sz="2400" dirty="0"/>
              <a:t>on</a:t>
            </a:r>
            <a:r>
              <a:rPr sz="2400" spc="210" dirty="0"/>
              <a:t> </a:t>
            </a:r>
            <a:r>
              <a:rPr sz="2400" dirty="0"/>
              <a:t>a</a:t>
            </a:r>
            <a:r>
              <a:rPr sz="2400" spc="210" dirty="0"/>
              <a:t> </a:t>
            </a:r>
            <a:r>
              <a:rPr sz="2400" spc="65" dirty="0"/>
              <a:t>large</a:t>
            </a:r>
            <a:r>
              <a:rPr sz="2400" spc="215" dirty="0"/>
              <a:t> </a:t>
            </a:r>
            <a:r>
              <a:rPr sz="2400" spc="70" dirty="0"/>
              <a:t>dataset</a:t>
            </a:r>
            <a:r>
              <a:rPr sz="2400" spc="204" dirty="0"/>
              <a:t> </a:t>
            </a:r>
            <a:r>
              <a:rPr sz="2400" dirty="0"/>
              <a:t>of</a:t>
            </a:r>
            <a:r>
              <a:rPr sz="2400" spc="204" dirty="0"/>
              <a:t> </a:t>
            </a:r>
            <a:r>
              <a:rPr sz="2400" spc="60" dirty="0"/>
              <a:t>skin</a:t>
            </a:r>
            <a:r>
              <a:rPr sz="2400" spc="210" dirty="0"/>
              <a:t> </a:t>
            </a:r>
            <a:r>
              <a:rPr sz="2400" spc="70" dirty="0"/>
              <a:t>lesion</a:t>
            </a:r>
            <a:r>
              <a:rPr sz="2400" spc="210" dirty="0"/>
              <a:t> </a:t>
            </a:r>
            <a:r>
              <a:rPr sz="2400" spc="65" dirty="0"/>
              <a:t>images</a:t>
            </a:r>
            <a:r>
              <a:rPr sz="2400" spc="215" dirty="0"/>
              <a:t> </a:t>
            </a:r>
            <a:r>
              <a:rPr sz="2400" dirty="0"/>
              <a:t>to</a:t>
            </a:r>
            <a:r>
              <a:rPr sz="2400" spc="225" dirty="0"/>
              <a:t> </a:t>
            </a:r>
            <a:r>
              <a:rPr sz="2400" spc="75" dirty="0"/>
              <a:t>achieve</a:t>
            </a:r>
            <a:r>
              <a:rPr sz="2400" spc="220" dirty="0"/>
              <a:t> </a:t>
            </a:r>
            <a:r>
              <a:rPr sz="2400" spc="65" dirty="0"/>
              <a:t>high</a:t>
            </a:r>
            <a:r>
              <a:rPr sz="2400" spc="220" dirty="0"/>
              <a:t> </a:t>
            </a:r>
            <a:r>
              <a:rPr sz="2400" spc="75" dirty="0"/>
              <a:t>accuracy</a:t>
            </a:r>
            <a:r>
              <a:rPr sz="2400" spc="220" dirty="0"/>
              <a:t> </a:t>
            </a:r>
            <a:r>
              <a:rPr sz="2400" spc="25" dirty="0"/>
              <a:t>and </a:t>
            </a:r>
            <a:r>
              <a:rPr sz="2400" dirty="0"/>
              <a:t>generalization</a:t>
            </a:r>
            <a:r>
              <a:rPr sz="2400" spc="-125" dirty="0"/>
              <a:t> </a:t>
            </a:r>
            <a:r>
              <a:rPr sz="2400" spc="-10" dirty="0"/>
              <a:t>performance.</a:t>
            </a:r>
          </a:p>
          <a:p>
            <a:pPr marL="431800" marR="5080" indent="-419100">
              <a:lnSpc>
                <a:spcPct val="150000"/>
              </a:lnSpc>
              <a:buClr>
                <a:srgbClr val="000000"/>
              </a:buClr>
              <a:buSzPct val="136363"/>
              <a:buChar char="●"/>
              <a:tabLst>
                <a:tab pos="431800" algn="l"/>
              </a:tabLst>
            </a:pPr>
            <a:r>
              <a:rPr sz="2400" dirty="0"/>
              <a:t>Evaluate</a:t>
            </a:r>
            <a:r>
              <a:rPr sz="2400" spc="80" dirty="0"/>
              <a:t> </a:t>
            </a:r>
            <a:r>
              <a:rPr sz="2400" dirty="0"/>
              <a:t>the</a:t>
            </a:r>
            <a:r>
              <a:rPr sz="2400" spc="85" dirty="0"/>
              <a:t> </a:t>
            </a:r>
            <a:r>
              <a:rPr sz="2400" dirty="0"/>
              <a:t>proposed</a:t>
            </a:r>
            <a:r>
              <a:rPr sz="2400" spc="85" dirty="0"/>
              <a:t> </a:t>
            </a:r>
            <a:r>
              <a:rPr sz="2400" dirty="0"/>
              <a:t>model's</a:t>
            </a:r>
            <a:r>
              <a:rPr sz="2400" spc="85" dirty="0"/>
              <a:t> </a:t>
            </a:r>
            <a:r>
              <a:rPr sz="2400" dirty="0"/>
              <a:t>performance</a:t>
            </a:r>
            <a:r>
              <a:rPr sz="2400" spc="85" dirty="0"/>
              <a:t> </a:t>
            </a:r>
            <a:r>
              <a:rPr sz="2400" dirty="0"/>
              <a:t>on</a:t>
            </a:r>
            <a:r>
              <a:rPr sz="2400" spc="85" dirty="0"/>
              <a:t> </a:t>
            </a:r>
            <a:r>
              <a:rPr sz="2400" dirty="0"/>
              <a:t>a</a:t>
            </a:r>
            <a:r>
              <a:rPr sz="2400" spc="85" dirty="0"/>
              <a:t> </a:t>
            </a:r>
            <a:r>
              <a:rPr sz="2400" dirty="0"/>
              <a:t>test</a:t>
            </a:r>
            <a:r>
              <a:rPr sz="2400" spc="80" dirty="0"/>
              <a:t> </a:t>
            </a:r>
            <a:r>
              <a:rPr sz="2400" dirty="0"/>
              <a:t>dataset</a:t>
            </a:r>
            <a:r>
              <a:rPr sz="2400" spc="75" dirty="0"/>
              <a:t> </a:t>
            </a:r>
            <a:r>
              <a:rPr sz="2400" dirty="0"/>
              <a:t>and</a:t>
            </a:r>
            <a:r>
              <a:rPr sz="2400" spc="85" dirty="0"/>
              <a:t> </a:t>
            </a:r>
            <a:r>
              <a:rPr sz="2400" dirty="0"/>
              <a:t>compare</a:t>
            </a:r>
            <a:r>
              <a:rPr sz="2400" spc="85" dirty="0"/>
              <a:t> </a:t>
            </a:r>
            <a:r>
              <a:rPr sz="2400" dirty="0"/>
              <a:t>it</a:t>
            </a:r>
            <a:r>
              <a:rPr sz="2400" spc="80" dirty="0"/>
              <a:t> </a:t>
            </a:r>
            <a:r>
              <a:rPr sz="2400" dirty="0"/>
              <a:t>with</a:t>
            </a:r>
            <a:r>
              <a:rPr sz="2400" spc="85" dirty="0"/>
              <a:t> </a:t>
            </a:r>
            <a:r>
              <a:rPr sz="2400" dirty="0"/>
              <a:t>other</a:t>
            </a:r>
            <a:r>
              <a:rPr sz="2400" spc="85" dirty="0"/>
              <a:t> </a:t>
            </a:r>
            <a:r>
              <a:rPr sz="2400" dirty="0"/>
              <a:t>state-of-the-</a:t>
            </a:r>
            <a:r>
              <a:rPr sz="2400" spc="-25" dirty="0"/>
              <a:t>art </a:t>
            </a:r>
            <a:r>
              <a:rPr sz="2400" dirty="0"/>
              <a:t>methods</a:t>
            </a:r>
            <a:r>
              <a:rPr sz="2400" spc="-55" dirty="0"/>
              <a:t> </a:t>
            </a:r>
            <a:r>
              <a:rPr sz="2400" dirty="0"/>
              <a:t>for</a:t>
            </a:r>
            <a:r>
              <a:rPr sz="2400" spc="-50" dirty="0"/>
              <a:t> </a:t>
            </a:r>
            <a:r>
              <a:rPr sz="2400" dirty="0"/>
              <a:t>skin</a:t>
            </a:r>
            <a:r>
              <a:rPr sz="2400" spc="-50" dirty="0"/>
              <a:t> </a:t>
            </a:r>
            <a:r>
              <a:rPr sz="2400" dirty="0"/>
              <a:t>cancer</a:t>
            </a:r>
            <a:r>
              <a:rPr sz="2400" spc="-55" dirty="0"/>
              <a:t> </a:t>
            </a:r>
            <a:r>
              <a:rPr sz="2400" spc="-10" dirty="0"/>
              <a:t>classification.</a:t>
            </a:r>
          </a:p>
          <a:p>
            <a:pPr marL="431800" marR="5080" indent="-419100">
              <a:lnSpc>
                <a:spcPct val="150000"/>
              </a:lnSpc>
              <a:buClr>
                <a:srgbClr val="000000"/>
              </a:buClr>
              <a:buSzPct val="136363"/>
              <a:buChar char="●"/>
              <a:tabLst>
                <a:tab pos="431800" algn="l"/>
              </a:tabLst>
            </a:pPr>
            <a:r>
              <a:rPr sz="2400" dirty="0"/>
              <a:t>Develop</a:t>
            </a:r>
            <a:r>
              <a:rPr sz="2400" spc="15" dirty="0"/>
              <a:t> </a:t>
            </a:r>
            <a:r>
              <a:rPr sz="2400" dirty="0"/>
              <a:t>a</a:t>
            </a:r>
            <a:r>
              <a:rPr sz="2400" spc="20" dirty="0"/>
              <a:t> </a:t>
            </a:r>
            <a:r>
              <a:rPr sz="2400" spc="-10" dirty="0"/>
              <a:t>web-</a:t>
            </a:r>
            <a:r>
              <a:rPr sz="2400" dirty="0"/>
              <a:t>based</a:t>
            </a:r>
            <a:r>
              <a:rPr sz="2400" spc="20" dirty="0"/>
              <a:t> </a:t>
            </a:r>
            <a:r>
              <a:rPr sz="2400" dirty="0"/>
              <a:t>tool</a:t>
            </a:r>
            <a:r>
              <a:rPr sz="2400" spc="20" dirty="0"/>
              <a:t> </a:t>
            </a:r>
            <a:r>
              <a:rPr sz="2400" dirty="0"/>
              <a:t>that</a:t>
            </a:r>
            <a:r>
              <a:rPr sz="2400" spc="15" dirty="0"/>
              <a:t> </a:t>
            </a:r>
            <a:r>
              <a:rPr sz="2400" dirty="0"/>
              <a:t>can</a:t>
            </a:r>
            <a:r>
              <a:rPr sz="2400" spc="20" dirty="0"/>
              <a:t> </a:t>
            </a:r>
            <a:r>
              <a:rPr sz="2400" dirty="0"/>
              <a:t>be</a:t>
            </a:r>
            <a:r>
              <a:rPr sz="2400" spc="20" dirty="0"/>
              <a:t> </a:t>
            </a:r>
            <a:r>
              <a:rPr sz="2400" dirty="0"/>
              <a:t>used</a:t>
            </a:r>
            <a:r>
              <a:rPr sz="2400" spc="20" dirty="0"/>
              <a:t> </a:t>
            </a:r>
            <a:r>
              <a:rPr sz="2400" dirty="0"/>
              <a:t>by</a:t>
            </a:r>
            <a:r>
              <a:rPr sz="2400" spc="20" dirty="0"/>
              <a:t> </a:t>
            </a:r>
            <a:r>
              <a:rPr sz="2400" dirty="0"/>
              <a:t>dermatologists</a:t>
            </a:r>
            <a:r>
              <a:rPr sz="2400" spc="15" dirty="0"/>
              <a:t> </a:t>
            </a:r>
            <a:r>
              <a:rPr sz="2400" dirty="0"/>
              <a:t>and</a:t>
            </a:r>
            <a:r>
              <a:rPr sz="2400" spc="20" dirty="0"/>
              <a:t> </a:t>
            </a:r>
            <a:r>
              <a:rPr sz="2400" dirty="0"/>
              <a:t>healthcare</a:t>
            </a:r>
            <a:r>
              <a:rPr sz="2400" spc="20" dirty="0"/>
              <a:t> </a:t>
            </a:r>
            <a:r>
              <a:rPr sz="2400" dirty="0"/>
              <a:t>professionals</a:t>
            </a:r>
            <a:r>
              <a:rPr sz="2400" spc="30" dirty="0"/>
              <a:t> </a:t>
            </a:r>
            <a:r>
              <a:rPr sz="2400" dirty="0"/>
              <a:t>for</a:t>
            </a:r>
            <a:r>
              <a:rPr sz="2400" spc="30" dirty="0"/>
              <a:t> </a:t>
            </a:r>
            <a:r>
              <a:rPr sz="2400" dirty="0"/>
              <a:t>real-</a:t>
            </a:r>
            <a:r>
              <a:rPr sz="2400" spc="-20" dirty="0"/>
              <a:t>time </a:t>
            </a:r>
            <a:r>
              <a:rPr sz="2400" dirty="0"/>
              <a:t>skin</a:t>
            </a:r>
            <a:r>
              <a:rPr sz="2400" spc="-65" dirty="0"/>
              <a:t> </a:t>
            </a:r>
            <a:r>
              <a:rPr sz="2400" dirty="0"/>
              <a:t>cancer</a:t>
            </a:r>
            <a:r>
              <a:rPr sz="2400" spc="-60" dirty="0"/>
              <a:t> </a:t>
            </a:r>
            <a:r>
              <a:rPr sz="2400" dirty="0"/>
              <a:t>classification</a:t>
            </a:r>
            <a:r>
              <a:rPr sz="2400" spc="-60" dirty="0"/>
              <a:t> </a:t>
            </a:r>
            <a:r>
              <a:rPr sz="2400" dirty="0"/>
              <a:t>using</a:t>
            </a:r>
            <a:r>
              <a:rPr sz="2400" spc="-60" dirty="0"/>
              <a:t> </a:t>
            </a:r>
            <a:r>
              <a:rPr sz="2400" dirty="0"/>
              <a:t>the</a:t>
            </a:r>
            <a:r>
              <a:rPr sz="2400" spc="-60" dirty="0"/>
              <a:t> </a:t>
            </a:r>
            <a:r>
              <a:rPr sz="2400" dirty="0"/>
              <a:t>proposed</a:t>
            </a:r>
            <a:r>
              <a:rPr sz="2400" spc="-60" dirty="0"/>
              <a:t> </a:t>
            </a:r>
            <a:r>
              <a:rPr sz="2400" dirty="0"/>
              <a:t>CNN</a:t>
            </a:r>
            <a:r>
              <a:rPr sz="2400" spc="-60" dirty="0"/>
              <a:t> </a:t>
            </a:r>
            <a:r>
              <a:rPr sz="2400" spc="-10" dirty="0"/>
              <a:t>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5129" y="1622908"/>
            <a:ext cx="16777741" cy="680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dirty="0">
                <a:solidFill>
                  <a:srgbClr val="000000"/>
                </a:solidFill>
                <a:latin typeface="Times New Roman"/>
                <a:cs typeface="Times New Roman"/>
              </a:rPr>
              <a:t>Prototype</a:t>
            </a:r>
            <a:r>
              <a:rPr sz="4300" spc="-17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300" spc="-10" dirty="0">
                <a:solidFill>
                  <a:srgbClr val="000000"/>
                </a:solidFill>
                <a:latin typeface="Times New Roman"/>
                <a:cs typeface="Times New Roman"/>
              </a:rPr>
              <a:t>Model</a:t>
            </a:r>
            <a:endParaRPr sz="43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5103" y="4777015"/>
            <a:ext cx="1582940" cy="232545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91832" y="5834392"/>
            <a:ext cx="116459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Input</a:t>
            </a:r>
            <a:r>
              <a:rPr sz="17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 MT"/>
                <a:cs typeface="Arial MT"/>
              </a:rPr>
              <a:t>Image</a:t>
            </a:r>
            <a:endParaRPr sz="1700" dirty="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107158" y="4848643"/>
            <a:ext cx="2037714" cy="2326005"/>
            <a:chOff x="2107158" y="4848643"/>
            <a:chExt cx="2037714" cy="232600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07158" y="5778271"/>
              <a:ext cx="412750" cy="46620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61577" y="4848643"/>
              <a:ext cx="1582940" cy="232545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818485" y="5704852"/>
            <a:ext cx="1069975" cy="544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318135">
              <a:lnSpc>
                <a:spcPct val="100000"/>
              </a:lnSpc>
              <a:spcBef>
                <a:spcPts val="105"/>
              </a:spcBef>
            </a:pPr>
            <a:r>
              <a:rPr sz="1700" spc="-20" dirty="0">
                <a:solidFill>
                  <a:srgbClr val="FFFFFF"/>
                </a:solidFill>
                <a:latin typeface="Arial MT"/>
                <a:cs typeface="Arial MT"/>
              </a:rPr>
              <a:t>Pre- </a:t>
            </a:r>
            <a:r>
              <a:rPr sz="1700" spc="-10" dirty="0">
                <a:solidFill>
                  <a:srgbClr val="FFFFFF"/>
                </a:solidFill>
                <a:latin typeface="Arial MT"/>
                <a:cs typeface="Arial MT"/>
              </a:rPr>
              <a:t>processing</a:t>
            </a:r>
            <a:endParaRPr sz="1700" dirty="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186186" y="4848643"/>
            <a:ext cx="2037714" cy="2326005"/>
            <a:chOff x="4186186" y="4848643"/>
            <a:chExt cx="2037714" cy="2326005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86186" y="5778271"/>
              <a:ext cx="412750" cy="46620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40605" y="4848643"/>
              <a:ext cx="1582940" cy="2325458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4842916" y="5704852"/>
            <a:ext cx="1178560" cy="544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5104" marR="5080" indent="-192405">
              <a:lnSpc>
                <a:spcPct val="100000"/>
              </a:lnSpc>
              <a:spcBef>
                <a:spcPts val="105"/>
              </a:spcBef>
            </a:pPr>
            <a:r>
              <a:rPr sz="1700" spc="-10" dirty="0">
                <a:solidFill>
                  <a:srgbClr val="FFFFFF"/>
                </a:solidFill>
                <a:latin typeface="Arial MT"/>
                <a:cs typeface="Arial MT"/>
              </a:rPr>
              <a:t>Classificatio </a:t>
            </a: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n</a:t>
            </a:r>
            <a:r>
              <a:rPr sz="1700" spc="-20" dirty="0">
                <a:solidFill>
                  <a:srgbClr val="FFFFFF"/>
                </a:solidFill>
                <a:latin typeface="Arial MT"/>
                <a:cs typeface="Arial MT"/>
              </a:rPr>
              <a:t> Model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265227" y="4848643"/>
            <a:ext cx="2037714" cy="2326005"/>
            <a:chOff x="6265227" y="4848643"/>
            <a:chExt cx="2037714" cy="2326005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65227" y="5778271"/>
              <a:ext cx="412750" cy="46620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19646" y="4848643"/>
              <a:ext cx="1582940" cy="2325458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6928307" y="5834392"/>
            <a:ext cx="116649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Fine</a:t>
            </a:r>
            <a:r>
              <a:rPr sz="17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 MT"/>
                <a:cs typeface="Arial MT"/>
              </a:rPr>
              <a:t>Tuning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344268" y="4848643"/>
            <a:ext cx="2037714" cy="2326005"/>
            <a:chOff x="8344268" y="4848643"/>
            <a:chExt cx="2037714" cy="2326005"/>
          </a:xfrm>
        </p:grpSpPr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44268" y="5778271"/>
              <a:ext cx="412750" cy="46620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98686" y="4848643"/>
              <a:ext cx="1582940" cy="2325458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9097518" y="5704852"/>
            <a:ext cx="985519" cy="544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07950">
              <a:lnSpc>
                <a:spcPct val="100000"/>
              </a:lnSpc>
              <a:spcBef>
                <a:spcPts val="105"/>
              </a:spcBef>
            </a:pPr>
            <a:r>
              <a:rPr sz="1700" spc="-10" dirty="0">
                <a:solidFill>
                  <a:srgbClr val="FFFFFF"/>
                </a:solidFill>
                <a:latin typeface="Arial MT"/>
                <a:cs typeface="Arial MT"/>
              </a:rPr>
              <a:t>Feature Extraction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0423308" y="4848643"/>
            <a:ext cx="2037714" cy="2326005"/>
            <a:chOff x="10423308" y="4848643"/>
            <a:chExt cx="2037714" cy="2326005"/>
          </a:xfrm>
        </p:grpSpPr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423308" y="5778271"/>
              <a:ext cx="412750" cy="46620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877727" y="4848643"/>
              <a:ext cx="1582940" cy="2325458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1332756" y="5704852"/>
            <a:ext cx="673100" cy="544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2545" marR="5080" indent="-29845">
              <a:lnSpc>
                <a:spcPct val="100000"/>
              </a:lnSpc>
              <a:spcBef>
                <a:spcPts val="105"/>
              </a:spcBef>
            </a:pPr>
            <a:r>
              <a:rPr sz="1700" spc="-20" dirty="0">
                <a:solidFill>
                  <a:srgbClr val="FFFFFF"/>
                </a:solidFill>
                <a:latin typeface="Arial MT"/>
                <a:cs typeface="Arial MT"/>
              </a:rPr>
              <a:t>Output </a:t>
            </a:r>
            <a:r>
              <a:rPr sz="1700" spc="-10" dirty="0">
                <a:solidFill>
                  <a:srgbClr val="FFFFFF"/>
                </a:solidFill>
                <a:latin typeface="Arial MT"/>
                <a:cs typeface="Arial MT"/>
              </a:rPr>
              <a:t>image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2436805" y="2541270"/>
            <a:ext cx="3193415" cy="6489700"/>
            <a:chOff x="12436805" y="2541270"/>
            <a:chExt cx="3193415" cy="6489700"/>
          </a:xfrm>
        </p:grpSpPr>
        <p:sp>
          <p:nvSpPr>
            <p:cNvPr id="28" name="object 28"/>
            <p:cNvSpPr/>
            <p:nvPr/>
          </p:nvSpPr>
          <p:spPr>
            <a:xfrm>
              <a:off x="12436805" y="2945282"/>
              <a:ext cx="530225" cy="6085840"/>
            </a:xfrm>
            <a:custGeom>
              <a:avLst/>
              <a:gdLst/>
              <a:ahLst/>
              <a:cxnLst/>
              <a:rect l="l" t="t" r="r" b="b"/>
              <a:pathLst>
                <a:path w="530225" h="6085840">
                  <a:moveTo>
                    <a:pt x="530059" y="0"/>
                  </a:moveTo>
                  <a:lnTo>
                    <a:pt x="265023" y="0"/>
                  </a:lnTo>
                  <a:lnTo>
                    <a:pt x="262547" y="241"/>
                  </a:lnTo>
                  <a:lnTo>
                    <a:pt x="252323" y="12700"/>
                  </a:lnTo>
                  <a:lnTo>
                    <a:pt x="252323" y="1022718"/>
                  </a:lnTo>
                  <a:lnTo>
                    <a:pt x="252323" y="2032749"/>
                  </a:lnTo>
                  <a:lnTo>
                    <a:pt x="252323" y="3030067"/>
                  </a:lnTo>
                  <a:lnTo>
                    <a:pt x="0" y="3030067"/>
                  </a:lnTo>
                  <a:lnTo>
                    <a:pt x="0" y="3055467"/>
                  </a:lnTo>
                  <a:lnTo>
                    <a:pt x="252323" y="3055467"/>
                  </a:lnTo>
                  <a:lnTo>
                    <a:pt x="252323" y="4052786"/>
                  </a:lnTo>
                  <a:lnTo>
                    <a:pt x="252323" y="5062817"/>
                  </a:lnTo>
                  <a:lnTo>
                    <a:pt x="252323" y="6072835"/>
                  </a:lnTo>
                  <a:lnTo>
                    <a:pt x="252564" y="6075311"/>
                  </a:lnTo>
                  <a:lnTo>
                    <a:pt x="265023" y="6085535"/>
                  </a:lnTo>
                  <a:lnTo>
                    <a:pt x="530059" y="6085535"/>
                  </a:lnTo>
                  <a:lnTo>
                    <a:pt x="530059" y="6072835"/>
                  </a:lnTo>
                  <a:lnTo>
                    <a:pt x="530059" y="6060135"/>
                  </a:lnTo>
                  <a:lnTo>
                    <a:pt x="277723" y="6060135"/>
                  </a:lnTo>
                  <a:lnTo>
                    <a:pt x="277723" y="5075517"/>
                  </a:lnTo>
                  <a:lnTo>
                    <a:pt x="530059" y="5075517"/>
                  </a:lnTo>
                  <a:lnTo>
                    <a:pt x="530059" y="5062817"/>
                  </a:lnTo>
                  <a:lnTo>
                    <a:pt x="530059" y="5050117"/>
                  </a:lnTo>
                  <a:lnTo>
                    <a:pt x="277723" y="5050117"/>
                  </a:lnTo>
                  <a:lnTo>
                    <a:pt x="277723" y="4065486"/>
                  </a:lnTo>
                  <a:lnTo>
                    <a:pt x="530059" y="4065486"/>
                  </a:lnTo>
                  <a:lnTo>
                    <a:pt x="530059" y="4052786"/>
                  </a:lnTo>
                  <a:lnTo>
                    <a:pt x="530059" y="4040086"/>
                  </a:lnTo>
                  <a:lnTo>
                    <a:pt x="277723" y="4040086"/>
                  </a:lnTo>
                  <a:lnTo>
                    <a:pt x="277723" y="3055467"/>
                  </a:lnTo>
                  <a:lnTo>
                    <a:pt x="530059" y="3055467"/>
                  </a:lnTo>
                  <a:lnTo>
                    <a:pt x="530059" y="3030067"/>
                  </a:lnTo>
                  <a:lnTo>
                    <a:pt x="277723" y="3030067"/>
                  </a:lnTo>
                  <a:lnTo>
                    <a:pt x="277723" y="2045449"/>
                  </a:lnTo>
                  <a:lnTo>
                    <a:pt x="530059" y="2045449"/>
                  </a:lnTo>
                  <a:lnTo>
                    <a:pt x="530059" y="2032749"/>
                  </a:lnTo>
                  <a:lnTo>
                    <a:pt x="530059" y="2020049"/>
                  </a:lnTo>
                  <a:lnTo>
                    <a:pt x="277723" y="2020049"/>
                  </a:lnTo>
                  <a:lnTo>
                    <a:pt x="277723" y="1035418"/>
                  </a:lnTo>
                  <a:lnTo>
                    <a:pt x="530059" y="1035418"/>
                  </a:lnTo>
                  <a:lnTo>
                    <a:pt x="530059" y="1022718"/>
                  </a:lnTo>
                  <a:lnTo>
                    <a:pt x="530059" y="1010018"/>
                  </a:lnTo>
                  <a:lnTo>
                    <a:pt x="277723" y="1010018"/>
                  </a:lnTo>
                  <a:lnTo>
                    <a:pt x="277723" y="25400"/>
                  </a:lnTo>
                  <a:lnTo>
                    <a:pt x="530059" y="25400"/>
                  </a:lnTo>
                  <a:lnTo>
                    <a:pt x="530059" y="12700"/>
                  </a:lnTo>
                  <a:lnTo>
                    <a:pt x="530059" y="0"/>
                  </a:lnTo>
                  <a:close/>
                </a:path>
              </a:pathLst>
            </a:custGeom>
            <a:solidFill>
              <a:srgbClr val="3369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2966191" y="2554224"/>
              <a:ext cx="2650490" cy="807720"/>
            </a:xfrm>
            <a:custGeom>
              <a:avLst/>
              <a:gdLst/>
              <a:ahLst/>
              <a:cxnLst/>
              <a:rect l="l" t="t" r="r" b="b"/>
              <a:pathLst>
                <a:path w="2650490" h="807720">
                  <a:moveTo>
                    <a:pt x="2650236" y="807720"/>
                  </a:moveTo>
                  <a:lnTo>
                    <a:pt x="0" y="807720"/>
                  </a:lnTo>
                  <a:lnTo>
                    <a:pt x="0" y="0"/>
                  </a:lnTo>
                  <a:lnTo>
                    <a:pt x="2650236" y="0"/>
                  </a:lnTo>
                  <a:lnTo>
                    <a:pt x="2650236" y="807720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2954165" y="2541270"/>
              <a:ext cx="2675890" cy="833755"/>
            </a:xfrm>
            <a:custGeom>
              <a:avLst/>
              <a:gdLst/>
              <a:ahLst/>
              <a:cxnLst/>
              <a:rect l="l" t="t" r="r" b="b"/>
              <a:pathLst>
                <a:path w="2675890" h="833754">
                  <a:moveTo>
                    <a:pt x="2662999" y="833424"/>
                  </a:moveTo>
                  <a:lnTo>
                    <a:pt x="12700" y="833424"/>
                  </a:lnTo>
                  <a:lnTo>
                    <a:pt x="10223" y="833170"/>
                  </a:lnTo>
                  <a:lnTo>
                    <a:pt x="0" y="820724"/>
                  </a:lnTo>
                  <a:lnTo>
                    <a:pt x="0" y="12699"/>
                  </a:lnTo>
                  <a:lnTo>
                    <a:pt x="12700" y="0"/>
                  </a:lnTo>
                  <a:lnTo>
                    <a:pt x="2662999" y="0"/>
                  </a:lnTo>
                  <a:lnTo>
                    <a:pt x="2675699" y="12699"/>
                  </a:lnTo>
                  <a:lnTo>
                    <a:pt x="25400" y="12699"/>
                  </a:lnTo>
                  <a:lnTo>
                    <a:pt x="12700" y="25399"/>
                  </a:lnTo>
                  <a:lnTo>
                    <a:pt x="25400" y="25399"/>
                  </a:lnTo>
                  <a:lnTo>
                    <a:pt x="25400" y="808024"/>
                  </a:lnTo>
                  <a:lnTo>
                    <a:pt x="12700" y="808024"/>
                  </a:lnTo>
                  <a:lnTo>
                    <a:pt x="25400" y="820724"/>
                  </a:lnTo>
                  <a:lnTo>
                    <a:pt x="2675699" y="820724"/>
                  </a:lnTo>
                  <a:lnTo>
                    <a:pt x="2675458" y="823201"/>
                  </a:lnTo>
                  <a:lnTo>
                    <a:pt x="2665476" y="833170"/>
                  </a:lnTo>
                  <a:lnTo>
                    <a:pt x="2662999" y="833424"/>
                  </a:lnTo>
                  <a:close/>
                </a:path>
                <a:path w="2675890" h="833754">
                  <a:moveTo>
                    <a:pt x="25400" y="25399"/>
                  </a:moveTo>
                  <a:lnTo>
                    <a:pt x="12700" y="25399"/>
                  </a:lnTo>
                  <a:lnTo>
                    <a:pt x="25400" y="12699"/>
                  </a:lnTo>
                  <a:lnTo>
                    <a:pt x="25400" y="25399"/>
                  </a:lnTo>
                  <a:close/>
                </a:path>
                <a:path w="2675890" h="833754">
                  <a:moveTo>
                    <a:pt x="2650299" y="25399"/>
                  </a:moveTo>
                  <a:lnTo>
                    <a:pt x="25400" y="25399"/>
                  </a:lnTo>
                  <a:lnTo>
                    <a:pt x="25400" y="12699"/>
                  </a:lnTo>
                  <a:lnTo>
                    <a:pt x="2650299" y="12699"/>
                  </a:lnTo>
                  <a:lnTo>
                    <a:pt x="2650299" y="25399"/>
                  </a:lnTo>
                  <a:close/>
                </a:path>
                <a:path w="2675890" h="833754">
                  <a:moveTo>
                    <a:pt x="2650299" y="820724"/>
                  </a:moveTo>
                  <a:lnTo>
                    <a:pt x="2650299" y="12699"/>
                  </a:lnTo>
                  <a:lnTo>
                    <a:pt x="2662999" y="25399"/>
                  </a:lnTo>
                  <a:lnTo>
                    <a:pt x="2675699" y="25399"/>
                  </a:lnTo>
                  <a:lnTo>
                    <a:pt x="2675699" y="808024"/>
                  </a:lnTo>
                  <a:lnTo>
                    <a:pt x="2662999" y="808024"/>
                  </a:lnTo>
                  <a:lnTo>
                    <a:pt x="2650299" y="820724"/>
                  </a:lnTo>
                  <a:close/>
                </a:path>
                <a:path w="2675890" h="833754">
                  <a:moveTo>
                    <a:pt x="2675699" y="25399"/>
                  </a:moveTo>
                  <a:lnTo>
                    <a:pt x="2662999" y="25399"/>
                  </a:lnTo>
                  <a:lnTo>
                    <a:pt x="2650299" y="12699"/>
                  </a:lnTo>
                  <a:lnTo>
                    <a:pt x="2675699" y="12699"/>
                  </a:lnTo>
                  <a:lnTo>
                    <a:pt x="2675699" y="25399"/>
                  </a:lnTo>
                  <a:close/>
                </a:path>
                <a:path w="2675890" h="833754">
                  <a:moveTo>
                    <a:pt x="25400" y="820724"/>
                  </a:moveTo>
                  <a:lnTo>
                    <a:pt x="12700" y="808024"/>
                  </a:lnTo>
                  <a:lnTo>
                    <a:pt x="25400" y="808024"/>
                  </a:lnTo>
                  <a:lnTo>
                    <a:pt x="25400" y="820724"/>
                  </a:lnTo>
                  <a:close/>
                </a:path>
                <a:path w="2675890" h="833754">
                  <a:moveTo>
                    <a:pt x="2650299" y="820724"/>
                  </a:moveTo>
                  <a:lnTo>
                    <a:pt x="25400" y="820724"/>
                  </a:lnTo>
                  <a:lnTo>
                    <a:pt x="25400" y="808024"/>
                  </a:lnTo>
                  <a:lnTo>
                    <a:pt x="2650299" y="808024"/>
                  </a:lnTo>
                  <a:lnTo>
                    <a:pt x="2650299" y="820724"/>
                  </a:lnTo>
                  <a:close/>
                </a:path>
                <a:path w="2675890" h="833754">
                  <a:moveTo>
                    <a:pt x="2675699" y="820724"/>
                  </a:moveTo>
                  <a:lnTo>
                    <a:pt x="2650299" y="820724"/>
                  </a:lnTo>
                  <a:lnTo>
                    <a:pt x="2662999" y="808024"/>
                  </a:lnTo>
                  <a:lnTo>
                    <a:pt x="2675699" y="808024"/>
                  </a:lnTo>
                  <a:lnTo>
                    <a:pt x="2675699" y="8207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2966192" y="2554223"/>
            <a:ext cx="2650490" cy="80772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64769" marR="55244" indent="252095">
              <a:lnSpc>
                <a:spcPct val="100000"/>
              </a:lnSpc>
              <a:spcBef>
                <a:spcPts val="550"/>
              </a:spcBef>
            </a:pP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Actinic</a:t>
            </a:r>
            <a:r>
              <a:rPr sz="21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keratoses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‘akiec’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(6705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 images)</a:t>
            </a:r>
            <a:endParaRPr sz="21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2954165" y="3551288"/>
            <a:ext cx="2675890" cy="833755"/>
            <a:chOff x="12954165" y="3551288"/>
            <a:chExt cx="2675890" cy="833755"/>
          </a:xfrm>
        </p:grpSpPr>
        <p:sp>
          <p:nvSpPr>
            <p:cNvPr id="33" name="object 33"/>
            <p:cNvSpPr/>
            <p:nvPr/>
          </p:nvSpPr>
          <p:spPr>
            <a:xfrm>
              <a:off x="12966192" y="3564635"/>
              <a:ext cx="2650490" cy="807720"/>
            </a:xfrm>
            <a:custGeom>
              <a:avLst/>
              <a:gdLst/>
              <a:ahLst/>
              <a:cxnLst/>
              <a:rect l="l" t="t" r="r" b="b"/>
              <a:pathLst>
                <a:path w="2650490" h="807720">
                  <a:moveTo>
                    <a:pt x="2650236" y="807719"/>
                  </a:moveTo>
                  <a:lnTo>
                    <a:pt x="0" y="807719"/>
                  </a:lnTo>
                  <a:lnTo>
                    <a:pt x="0" y="0"/>
                  </a:lnTo>
                  <a:lnTo>
                    <a:pt x="2650236" y="0"/>
                  </a:lnTo>
                  <a:lnTo>
                    <a:pt x="2650236" y="80771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2954165" y="3551288"/>
              <a:ext cx="2675890" cy="833755"/>
            </a:xfrm>
            <a:custGeom>
              <a:avLst/>
              <a:gdLst/>
              <a:ahLst/>
              <a:cxnLst/>
              <a:rect l="l" t="t" r="r" b="b"/>
              <a:pathLst>
                <a:path w="2675890" h="833754">
                  <a:moveTo>
                    <a:pt x="2662999" y="833424"/>
                  </a:moveTo>
                  <a:lnTo>
                    <a:pt x="12700" y="833424"/>
                  </a:lnTo>
                  <a:lnTo>
                    <a:pt x="10223" y="833183"/>
                  </a:lnTo>
                  <a:lnTo>
                    <a:pt x="0" y="820724"/>
                  </a:lnTo>
                  <a:lnTo>
                    <a:pt x="0" y="12700"/>
                  </a:lnTo>
                  <a:lnTo>
                    <a:pt x="12700" y="0"/>
                  </a:lnTo>
                  <a:lnTo>
                    <a:pt x="2662999" y="0"/>
                  </a:lnTo>
                  <a:lnTo>
                    <a:pt x="2675699" y="12700"/>
                  </a:lnTo>
                  <a:lnTo>
                    <a:pt x="25400" y="12700"/>
                  </a:lnTo>
                  <a:lnTo>
                    <a:pt x="12700" y="25400"/>
                  </a:lnTo>
                  <a:lnTo>
                    <a:pt x="25400" y="25400"/>
                  </a:lnTo>
                  <a:lnTo>
                    <a:pt x="25400" y="808024"/>
                  </a:lnTo>
                  <a:lnTo>
                    <a:pt x="12700" y="808024"/>
                  </a:lnTo>
                  <a:lnTo>
                    <a:pt x="25400" y="820724"/>
                  </a:lnTo>
                  <a:lnTo>
                    <a:pt x="2675699" y="820724"/>
                  </a:lnTo>
                  <a:lnTo>
                    <a:pt x="2675458" y="823201"/>
                  </a:lnTo>
                  <a:lnTo>
                    <a:pt x="2665476" y="833183"/>
                  </a:lnTo>
                  <a:lnTo>
                    <a:pt x="2662999" y="833424"/>
                  </a:lnTo>
                  <a:close/>
                </a:path>
                <a:path w="2675890" h="833754">
                  <a:moveTo>
                    <a:pt x="25400" y="25400"/>
                  </a:moveTo>
                  <a:lnTo>
                    <a:pt x="12700" y="25400"/>
                  </a:lnTo>
                  <a:lnTo>
                    <a:pt x="25400" y="12700"/>
                  </a:lnTo>
                  <a:lnTo>
                    <a:pt x="25400" y="25400"/>
                  </a:lnTo>
                  <a:close/>
                </a:path>
                <a:path w="2675890" h="833754">
                  <a:moveTo>
                    <a:pt x="2650299" y="25400"/>
                  </a:moveTo>
                  <a:lnTo>
                    <a:pt x="25400" y="25400"/>
                  </a:lnTo>
                  <a:lnTo>
                    <a:pt x="25400" y="12700"/>
                  </a:lnTo>
                  <a:lnTo>
                    <a:pt x="2650299" y="12700"/>
                  </a:lnTo>
                  <a:lnTo>
                    <a:pt x="2650299" y="25400"/>
                  </a:lnTo>
                  <a:close/>
                </a:path>
                <a:path w="2675890" h="833754">
                  <a:moveTo>
                    <a:pt x="2650299" y="820724"/>
                  </a:moveTo>
                  <a:lnTo>
                    <a:pt x="2650299" y="12700"/>
                  </a:lnTo>
                  <a:lnTo>
                    <a:pt x="2662999" y="25400"/>
                  </a:lnTo>
                  <a:lnTo>
                    <a:pt x="2675699" y="25400"/>
                  </a:lnTo>
                  <a:lnTo>
                    <a:pt x="2675699" y="808024"/>
                  </a:lnTo>
                  <a:lnTo>
                    <a:pt x="2662999" y="808024"/>
                  </a:lnTo>
                  <a:lnTo>
                    <a:pt x="2650299" y="820724"/>
                  </a:lnTo>
                  <a:close/>
                </a:path>
                <a:path w="2675890" h="833754">
                  <a:moveTo>
                    <a:pt x="2675699" y="25400"/>
                  </a:moveTo>
                  <a:lnTo>
                    <a:pt x="2662999" y="25400"/>
                  </a:lnTo>
                  <a:lnTo>
                    <a:pt x="2650299" y="12700"/>
                  </a:lnTo>
                  <a:lnTo>
                    <a:pt x="2675699" y="12700"/>
                  </a:lnTo>
                  <a:lnTo>
                    <a:pt x="2675699" y="25400"/>
                  </a:lnTo>
                  <a:close/>
                </a:path>
                <a:path w="2675890" h="833754">
                  <a:moveTo>
                    <a:pt x="25400" y="820724"/>
                  </a:moveTo>
                  <a:lnTo>
                    <a:pt x="12700" y="808024"/>
                  </a:lnTo>
                  <a:lnTo>
                    <a:pt x="25400" y="808024"/>
                  </a:lnTo>
                  <a:lnTo>
                    <a:pt x="25400" y="820724"/>
                  </a:lnTo>
                  <a:close/>
                </a:path>
                <a:path w="2675890" h="833754">
                  <a:moveTo>
                    <a:pt x="2650299" y="820724"/>
                  </a:moveTo>
                  <a:lnTo>
                    <a:pt x="25400" y="820724"/>
                  </a:lnTo>
                  <a:lnTo>
                    <a:pt x="25400" y="808024"/>
                  </a:lnTo>
                  <a:lnTo>
                    <a:pt x="2650299" y="808024"/>
                  </a:lnTo>
                  <a:lnTo>
                    <a:pt x="2650299" y="820724"/>
                  </a:lnTo>
                  <a:close/>
                </a:path>
                <a:path w="2675890" h="833754">
                  <a:moveTo>
                    <a:pt x="2675699" y="820724"/>
                  </a:moveTo>
                  <a:lnTo>
                    <a:pt x="2650299" y="820724"/>
                  </a:lnTo>
                  <a:lnTo>
                    <a:pt x="2662999" y="808024"/>
                  </a:lnTo>
                  <a:lnTo>
                    <a:pt x="2675699" y="808024"/>
                  </a:lnTo>
                  <a:lnTo>
                    <a:pt x="2675699" y="8207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2966192" y="3564635"/>
            <a:ext cx="2650490" cy="80772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472440" marR="151765" indent="-311150">
              <a:lnSpc>
                <a:spcPct val="100000"/>
              </a:lnSpc>
              <a:spcBef>
                <a:spcPts val="550"/>
              </a:spcBef>
            </a:pP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Dermatofibroma</a:t>
            </a:r>
            <a:r>
              <a:rPr sz="21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Arial MT"/>
                <a:cs typeface="Arial MT"/>
              </a:rPr>
              <a:t>‘df’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(1113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 images)</a:t>
            </a:r>
            <a:endParaRPr sz="21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2954165" y="4561319"/>
            <a:ext cx="2675890" cy="833755"/>
            <a:chOff x="12954165" y="4561319"/>
            <a:chExt cx="2675890" cy="833755"/>
          </a:xfrm>
        </p:grpSpPr>
        <p:sp>
          <p:nvSpPr>
            <p:cNvPr id="37" name="object 37"/>
            <p:cNvSpPr/>
            <p:nvPr/>
          </p:nvSpPr>
          <p:spPr>
            <a:xfrm>
              <a:off x="12966192" y="4573523"/>
              <a:ext cx="2650490" cy="809625"/>
            </a:xfrm>
            <a:custGeom>
              <a:avLst/>
              <a:gdLst/>
              <a:ahLst/>
              <a:cxnLst/>
              <a:rect l="l" t="t" r="r" b="b"/>
              <a:pathLst>
                <a:path w="2650490" h="809625">
                  <a:moveTo>
                    <a:pt x="2650236" y="809244"/>
                  </a:moveTo>
                  <a:lnTo>
                    <a:pt x="0" y="809244"/>
                  </a:lnTo>
                  <a:lnTo>
                    <a:pt x="0" y="0"/>
                  </a:lnTo>
                  <a:lnTo>
                    <a:pt x="2650236" y="0"/>
                  </a:lnTo>
                  <a:lnTo>
                    <a:pt x="2650236" y="809244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2954165" y="4561319"/>
              <a:ext cx="2675890" cy="833755"/>
            </a:xfrm>
            <a:custGeom>
              <a:avLst/>
              <a:gdLst/>
              <a:ahLst/>
              <a:cxnLst/>
              <a:rect l="l" t="t" r="r" b="b"/>
              <a:pathLst>
                <a:path w="2675890" h="833754">
                  <a:moveTo>
                    <a:pt x="2662999" y="833412"/>
                  </a:moveTo>
                  <a:lnTo>
                    <a:pt x="12700" y="833412"/>
                  </a:lnTo>
                  <a:lnTo>
                    <a:pt x="10223" y="833170"/>
                  </a:lnTo>
                  <a:lnTo>
                    <a:pt x="0" y="820712"/>
                  </a:lnTo>
                  <a:lnTo>
                    <a:pt x="0" y="12700"/>
                  </a:lnTo>
                  <a:lnTo>
                    <a:pt x="12700" y="0"/>
                  </a:lnTo>
                  <a:lnTo>
                    <a:pt x="2662999" y="0"/>
                  </a:lnTo>
                  <a:lnTo>
                    <a:pt x="2675699" y="12700"/>
                  </a:lnTo>
                  <a:lnTo>
                    <a:pt x="25400" y="12700"/>
                  </a:lnTo>
                  <a:lnTo>
                    <a:pt x="12700" y="25400"/>
                  </a:lnTo>
                  <a:lnTo>
                    <a:pt x="25400" y="25400"/>
                  </a:lnTo>
                  <a:lnTo>
                    <a:pt x="25400" y="808012"/>
                  </a:lnTo>
                  <a:lnTo>
                    <a:pt x="12700" y="808012"/>
                  </a:lnTo>
                  <a:lnTo>
                    <a:pt x="25400" y="820712"/>
                  </a:lnTo>
                  <a:lnTo>
                    <a:pt x="2675699" y="820712"/>
                  </a:lnTo>
                  <a:lnTo>
                    <a:pt x="2675458" y="823188"/>
                  </a:lnTo>
                  <a:lnTo>
                    <a:pt x="2665476" y="833170"/>
                  </a:lnTo>
                  <a:lnTo>
                    <a:pt x="2662999" y="833412"/>
                  </a:lnTo>
                  <a:close/>
                </a:path>
                <a:path w="2675890" h="833754">
                  <a:moveTo>
                    <a:pt x="25400" y="25400"/>
                  </a:moveTo>
                  <a:lnTo>
                    <a:pt x="12700" y="25400"/>
                  </a:lnTo>
                  <a:lnTo>
                    <a:pt x="25400" y="12700"/>
                  </a:lnTo>
                  <a:lnTo>
                    <a:pt x="25400" y="25400"/>
                  </a:lnTo>
                  <a:close/>
                </a:path>
                <a:path w="2675890" h="833754">
                  <a:moveTo>
                    <a:pt x="2650299" y="25400"/>
                  </a:moveTo>
                  <a:lnTo>
                    <a:pt x="25400" y="25400"/>
                  </a:lnTo>
                  <a:lnTo>
                    <a:pt x="25400" y="12700"/>
                  </a:lnTo>
                  <a:lnTo>
                    <a:pt x="2650299" y="12700"/>
                  </a:lnTo>
                  <a:lnTo>
                    <a:pt x="2650299" y="25400"/>
                  </a:lnTo>
                  <a:close/>
                </a:path>
                <a:path w="2675890" h="833754">
                  <a:moveTo>
                    <a:pt x="2650299" y="820712"/>
                  </a:moveTo>
                  <a:lnTo>
                    <a:pt x="2650299" y="12700"/>
                  </a:lnTo>
                  <a:lnTo>
                    <a:pt x="2662999" y="25400"/>
                  </a:lnTo>
                  <a:lnTo>
                    <a:pt x="2675699" y="25400"/>
                  </a:lnTo>
                  <a:lnTo>
                    <a:pt x="2675699" y="808012"/>
                  </a:lnTo>
                  <a:lnTo>
                    <a:pt x="2662999" y="808012"/>
                  </a:lnTo>
                  <a:lnTo>
                    <a:pt x="2650299" y="820712"/>
                  </a:lnTo>
                  <a:close/>
                </a:path>
                <a:path w="2675890" h="833754">
                  <a:moveTo>
                    <a:pt x="2675699" y="25400"/>
                  </a:moveTo>
                  <a:lnTo>
                    <a:pt x="2662999" y="25400"/>
                  </a:lnTo>
                  <a:lnTo>
                    <a:pt x="2650299" y="12700"/>
                  </a:lnTo>
                  <a:lnTo>
                    <a:pt x="2675699" y="12700"/>
                  </a:lnTo>
                  <a:lnTo>
                    <a:pt x="2675699" y="25400"/>
                  </a:lnTo>
                  <a:close/>
                </a:path>
                <a:path w="2675890" h="833754">
                  <a:moveTo>
                    <a:pt x="25400" y="820712"/>
                  </a:moveTo>
                  <a:lnTo>
                    <a:pt x="12700" y="808012"/>
                  </a:lnTo>
                  <a:lnTo>
                    <a:pt x="25400" y="808012"/>
                  </a:lnTo>
                  <a:lnTo>
                    <a:pt x="25400" y="820712"/>
                  </a:lnTo>
                  <a:close/>
                </a:path>
                <a:path w="2675890" h="833754">
                  <a:moveTo>
                    <a:pt x="2650299" y="820712"/>
                  </a:moveTo>
                  <a:lnTo>
                    <a:pt x="25400" y="820712"/>
                  </a:lnTo>
                  <a:lnTo>
                    <a:pt x="25400" y="808012"/>
                  </a:lnTo>
                  <a:lnTo>
                    <a:pt x="2650299" y="808012"/>
                  </a:lnTo>
                  <a:lnTo>
                    <a:pt x="2650299" y="820712"/>
                  </a:lnTo>
                  <a:close/>
                </a:path>
                <a:path w="2675890" h="833754">
                  <a:moveTo>
                    <a:pt x="2675699" y="820712"/>
                  </a:moveTo>
                  <a:lnTo>
                    <a:pt x="2650299" y="820712"/>
                  </a:lnTo>
                  <a:lnTo>
                    <a:pt x="2662999" y="808012"/>
                  </a:lnTo>
                  <a:lnTo>
                    <a:pt x="2675699" y="808012"/>
                  </a:lnTo>
                  <a:lnTo>
                    <a:pt x="2675699" y="8207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2966192" y="4573523"/>
            <a:ext cx="2650490" cy="80962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472440" marR="62865" indent="-400050">
              <a:lnSpc>
                <a:spcPct val="100000"/>
              </a:lnSpc>
              <a:spcBef>
                <a:spcPts val="555"/>
              </a:spcBef>
            </a:pP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Benign</a:t>
            </a:r>
            <a:r>
              <a:rPr sz="21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keratosis</a:t>
            </a:r>
            <a:r>
              <a:rPr sz="21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Arial MT"/>
                <a:cs typeface="Arial MT"/>
              </a:rPr>
              <a:t>‘bkl’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(1099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 images)</a:t>
            </a:r>
            <a:endParaRPr sz="210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2954165" y="5571337"/>
            <a:ext cx="2675890" cy="833755"/>
            <a:chOff x="12954165" y="5571337"/>
            <a:chExt cx="2675890" cy="833755"/>
          </a:xfrm>
        </p:grpSpPr>
        <p:sp>
          <p:nvSpPr>
            <p:cNvPr id="41" name="object 41"/>
            <p:cNvSpPr/>
            <p:nvPr/>
          </p:nvSpPr>
          <p:spPr>
            <a:xfrm>
              <a:off x="12966192" y="5583935"/>
              <a:ext cx="2650490" cy="807720"/>
            </a:xfrm>
            <a:custGeom>
              <a:avLst/>
              <a:gdLst/>
              <a:ahLst/>
              <a:cxnLst/>
              <a:rect l="l" t="t" r="r" b="b"/>
              <a:pathLst>
                <a:path w="2650490" h="807720">
                  <a:moveTo>
                    <a:pt x="2650236" y="807720"/>
                  </a:moveTo>
                  <a:lnTo>
                    <a:pt x="0" y="807720"/>
                  </a:lnTo>
                  <a:lnTo>
                    <a:pt x="0" y="0"/>
                  </a:lnTo>
                  <a:lnTo>
                    <a:pt x="2650236" y="0"/>
                  </a:lnTo>
                  <a:lnTo>
                    <a:pt x="2650236" y="807720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2954165" y="5571337"/>
              <a:ext cx="2675890" cy="833755"/>
            </a:xfrm>
            <a:custGeom>
              <a:avLst/>
              <a:gdLst/>
              <a:ahLst/>
              <a:cxnLst/>
              <a:rect l="l" t="t" r="r" b="b"/>
              <a:pathLst>
                <a:path w="2675890" h="833754">
                  <a:moveTo>
                    <a:pt x="2662999" y="833424"/>
                  </a:moveTo>
                  <a:lnTo>
                    <a:pt x="12700" y="833424"/>
                  </a:lnTo>
                  <a:lnTo>
                    <a:pt x="10223" y="833183"/>
                  </a:lnTo>
                  <a:lnTo>
                    <a:pt x="0" y="820724"/>
                  </a:lnTo>
                  <a:lnTo>
                    <a:pt x="0" y="12700"/>
                  </a:lnTo>
                  <a:lnTo>
                    <a:pt x="12700" y="0"/>
                  </a:lnTo>
                  <a:lnTo>
                    <a:pt x="2662999" y="0"/>
                  </a:lnTo>
                  <a:lnTo>
                    <a:pt x="2675699" y="12700"/>
                  </a:lnTo>
                  <a:lnTo>
                    <a:pt x="25400" y="12700"/>
                  </a:lnTo>
                  <a:lnTo>
                    <a:pt x="12700" y="25400"/>
                  </a:lnTo>
                  <a:lnTo>
                    <a:pt x="25400" y="25400"/>
                  </a:lnTo>
                  <a:lnTo>
                    <a:pt x="25400" y="808024"/>
                  </a:lnTo>
                  <a:lnTo>
                    <a:pt x="12700" y="808024"/>
                  </a:lnTo>
                  <a:lnTo>
                    <a:pt x="25400" y="820724"/>
                  </a:lnTo>
                  <a:lnTo>
                    <a:pt x="2675699" y="820724"/>
                  </a:lnTo>
                  <a:lnTo>
                    <a:pt x="2675458" y="823201"/>
                  </a:lnTo>
                  <a:lnTo>
                    <a:pt x="2665476" y="833183"/>
                  </a:lnTo>
                  <a:lnTo>
                    <a:pt x="2662999" y="833424"/>
                  </a:lnTo>
                  <a:close/>
                </a:path>
                <a:path w="2675890" h="833754">
                  <a:moveTo>
                    <a:pt x="25400" y="25400"/>
                  </a:moveTo>
                  <a:lnTo>
                    <a:pt x="12700" y="25400"/>
                  </a:lnTo>
                  <a:lnTo>
                    <a:pt x="25400" y="12700"/>
                  </a:lnTo>
                  <a:lnTo>
                    <a:pt x="25400" y="25400"/>
                  </a:lnTo>
                  <a:close/>
                </a:path>
                <a:path w="2675890" h="833754">
                  <a:moveTo>
                    <a:pt x="2650299" y="25400"/>
                  </a:moveTo>
                  <a:lnTo>
                    <a:pt x="25400" y="25400"/>
                  </a:lnTo>
                  <a:lnTo>
                    <a:pt x="25400" y="12700"/>
                  </a:lnTo>
                  <a:lnTo>
                    <a:pt x="2650299" y="12700"/>
                  </a:lnTo>
                  <a:lnTo>
                    <a:pt x="2650299" y="25400"/>
                  </a:lnTo>
                  <a:close/>
                </a:path>
                <a:path w="2675890" h="833754">
                  <a:moveTo>
                    <a:pt x="2650299" y="820724"/>
                  </a:moveTo>
                  <a:lnTo>
                    <a:pt x="2650299" y="12700"/>
                  </a:lnTo>
                  <a:lnTo>
                    <a:pt x="2662999" y="25400"/>
                  </a:lnTo>
                  <a:lnTo>
                    <a:pt x="2675699" y="25400"/>
                  </a:lnTo>
                  <a:lnTo>
                    <a:pt x="2675699" y="808024"/>
                  </a:lnTo>
                  <a:lnTo>
                    <a:pt x="2662999" y="808024"/>
                  </a:lnTo>
                  <a:lnTo>
                    <a:pt x="2650299" y="820724"/>
                  </a:lnTo>
                  <a:close/>
                </a:path>
                <a:path w="2675890" h="833754">
                  <a:moveTo>
                    <a:pt x="2675699" y="25400"/>
                  </a:moveTo>
                  <a:lnTo>
                    <a:pt x="2662999" y="25400"/>
                  </a:lnTo>
                  <a:lnTo>
                    <a:pt x="2650299" y="12700"/>
                  </a:lnTo>
                  <a:lnTo>
                    <a:pt x="2675699" y="12700"/>
                  </a:lnTo>
                  <a:lnTo>
                    <a:pt x="2675699" y="25400"/>
                  </a:lnTo>
                  <a:close/>
                </a:path>
                <a:path w="2675890" h="833754">
                  <a:moveTo>
                    <a:pt x="25400" y="820724"/>
                  </a:moveTo>
                  <a:lnTo>
                    <a:pt x="12700" y="808024"/>
                  </a:lnTo>
                  <a:lnTo>
                    <a:pt x="25400" y="808024"/>
                  </a:lnTo>
                  <a:lnTo>
                    <a:pt x="25400" y="820724"/>
                  </a:lnTo>
                  <a:close/>
                </a:path>
                <a:path w="2675890" h="833754">
                  <a:moveTo>
                    <a:pt x="2650299" y="820724"/>
                  </a:moveTo>
                  <a:lnTo>
                    <a:pt x="25400" y="820724"/>
                  </a:lnTo>
                  <a:lnTo>
                    <a:pt x="25400" y="808024"/>
                  </a:lnTo>
                  <a:lnTo>
                    <a:pt x="2650299" y="808024"/>
                  </a:lnTo>
                  <a:lnTo>
                    <a:pt x="2650299" y="820724"/>
                  </a:lnTo>
                  <a:close/>
                </a:path>
                <a:path w="2675890" h="833754">
                  <a:moveTo>
                    <a:pt x="2675699" y="820724"/>
                  </a:moveTo>
                  <a:lnTo>
                    <a:pt x="2650299" y="820724"/>
                  </a:lnTo>
                  <a:lnTo>
                    <a:pt x="2662999" y="808024"/>
                  </a:lnTo>
                  <a:lnTo>
                    <a:pt x="2675699" y="808024"/>
                  </a:lnTo>
                  <a:lnTo>
                    <a:pt x="2675699" y="8207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2966192" y="5583935"/>
            <a:ext cx="2650490" cy="80772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850900" marR="77470" indent="-763905">
              <a:lnSpc>
                <a:spcPct val="100000"/>
              </a:lnSpc>
              <a:spcBef>
                <a:spcPts val="555"/>
              </a:spcBef>
            </a:pP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Melanoma</a:t>
            </a:r>
            <a:r>
              <a:rPr sz="21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‘mel’</a:t>
            </a:r>
            <a:r>
              <a:rPr sz="21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Arial MT"/>
                <a:cs typeface="Arial MT"/>
              </a:rPr>
              <a:t>(514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images)</a:t>
            </a:r>
            <a:endParaRPr sz="2100">
              <a:latin typeface="Arial MT"/>
              <a:cs typeface="Arial M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2954165" y="6581368"/>
            <a:ext cx="2675890" cy="833755"/>
            <a:chOff x="12954165" y="6581368"/>
            <a:chExt cx="2675890" cy="833755"/>
          </a:xfrm>
        </p:grpSpPr>
        <p:sp>
          <p:nvSpPr>
            <p:cNvPr id="45" name="object 45"/>
            <p:cNvSpPr/>
            <p:nvPr/>
          </p:nvSpPr>
          <p:spPr>
            <a:xfrm>
              <a:off x="12966192" y="6594348"/>
              <a:ext cx="2650490" cy="807720"/>
            </a:xfrm>
            <a:custGeom>
              <a:avLst/>
              <a:gdLst/>
              <a:ahLst/>
              <a:cxnLst/>
              <a:rect l="l" t="t" r="r" b="b"/>
              <a:pathLst>
                <a:path w="2650490" h="807720">
                  <a:moveTo>
                    <a:pt x="2650236" y="807720"/>
                  </a:moveTo>
                  <a:lnTo>
                    <a:pt x="0" y="807720"/>
                  </a:lnTo>
                  <a:lnTo>
                    <a:pt x="0" y="0"/>
                  </a:lnTo>
                  <a:lnTo>
                    <a:pt x="2650236" y="0"/>
                  </a:lnTo>
                  <a:lnTo>
                    <a:pt x="2650236" y="807720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2954165" y="6581368"/>
              <a:ext cx="2675890" cy="833755"/>
            </a:xfrm>
            <a:custGeom>
              <a:avLst/>
              <a:gdLst/>
              <a:ahLst/>
              <a:cxnLst/>
              <a:rect l="l" t="t" r="r" b="b"/>
              <a:pathLst>
                <a:path w="2675890" h="833754">
                  <a:moveTo>
                    <a:pt x="2662999" y="833412"/>
                  </a:moveTo>
                  <a:lnTo>
                    <a:pt x="12700" y="833412"/>
                  </a:lnTo>
                  <a:lnTo>
                    <a:pt x="10223" y="833170"/>
                  </a:lnTo>
                  <a:lnTo>
                    <a:pt x="0" y="820712"/>
                  </a:lnTo>
                  <a:lnTo>
                    <a:pt x="0" y="12700"/>
                  </a:lnTo>
                  <a:lnTo>
                    <a:pt x="12700" y="0"/>
                  </a:lnTo>
                  <a:lnTo>
                    <a:pt x="2662999" y="0"/>
                  </a:lnTo>
                  <a:lnTo>
                    <a:pt x="2675699" y="12700"/>
                  </a:lnTo>
                  <a:lnTo>
                    <a:pt x="25400" y="12700"/>
                  </a:lnTo>
                  <a:lnTo>
                    <a:pt x="12700" y="25400"/>
                  </a:lnTo>
                  <a:lnTo>
                    <a:pt x="25400" y="25400"/>
                  </a:lnTo>
                  <a:lnTo>
                    <a:pt x="25400" y="808012"/>
                  </a:lnTo>
                  <a:lnTo>
                    <a:pt x="12700" y="808012"/>
                  </a:lnTo>
                  <a:lnTo>
                    <a:pt x="25400" y="820712"/>
                  </a:lnTo>
                  <a:lnTo>
                    <a:pt x="2675699" y="820712"/>
                  </a:lnTo>
                  <a:lnTo>
                    <a:pt x="2675458" y="823188"/>
                  </a:lnTo>
                  <a:lnTo>
                    <a:pt x="2665476" y="833170"/>
                  </a:lnTo>
                  <a:lnTo>
                    <a:pt x="2662999" y="833412"/>
                  </a:lnTo>
                  <a:close/>
                </a:path>
                <a:path w="2675890" h="833754">
                  <a:moveTo>
                    <a:pt x="25400" y="25400"/>
                  </a:moveTo>
                  <a:lnTo>
                    <a:pt x="12700" y="25400"/>
                  </a:lnTo>
                  <a:lnTo>
                    <a:pt x="25400" y="12700"/>
                  </a:lnTo>
                  <a:lnTo>
                    <a:pt x="25400" y="25400"/>
                  </a:lnTo>
                  <a:close/>
                </a:path>
                <a:path w="2675890" h="833754">
                  <a:moveTo>
                    <a:pt x="2650299" y="25400"/>
                  </a:moveTo>
                  <a:lnTo>
                    <a:pt x="25400" y="25400"/>
                  </a:lnTo>
                  <a:lnTo>
                    <a:pt x="25400" y="12700"/>
                  </a:lnTo>
                  <a:lnTo>
                    <a:pt x="2650299" y="12700"/>
                  </a:lnTo>
                  <a:lnTo>
                    <a:pt x="2650299" y="25400"/>
                  </a:lnTo>
                  <a:close/>
                </a:path>
                <a:path w="2675890" h="833754">
                  <a:moveTo>
                    <a:pt x="2650299" y="820712"/>
                  </a:moveTo>
                  <a:lnTo>
                    <a:pt x="2650299" y="12700"/>
                  </a:lnTo>
                  <a:lnTo>
                    <a:pt x="2662999" y="25400"/>
                  </a:lnTo>
                  <a:lnTo>
                    <a:pt x="2675699" y="25400"/>
                  </a:lnTo>
                  <a:lnTo>
                    <a:pt x="2675699" y="808012"/>
                  </a:lnTo>
                  <a:lnTo>
                    <a:pt x="2662999" y="808012"/>
                  </a:lnTo>
                  <a:lnTo>
                    <a:pt x="2650299" y="820712"/>
                  </a:lnTo>
                  <a:close/>
                </a:path>
                <a:path w="2675890" h="833754">
                  <a:moveTo>
                    <a:pt x="2675699" y="25400"/>
                  </a:moveTo>
                  <a:lnTo>
                    <a:pt x="2662999" y="25400"/>
                  </a:lnTo>
                  <a:lnTo>
                    <a:pt x="2650299" y="12700"/>
                  </a:lnTo>
                  <a:lnTo>
                    <a:pt x="2675699" y="12700"/>
                  </a:lnTo>
                  <a:lnTo>
                    <a:pt x="2675699" y="25400"/>
                  </a:lnTo>
                  <a:close/>
                </a:path>
                <a:path w="2675890" h="833754">
                  <a:moveTo>
                    <a:pt x="25400" y="820712"/>
                  </a:moveTo>
                  <a:lnTo>
                    <a:pt x="12700" y="808012"/>
                  </a:lnTo>
                  <a:lnTo>
                    <a:pt x="25400" y="808012"/>
                  </a:lnTo>
                  <a:lnTo>
                    <a:pt x="25400" y="820712"/>
                  </a:lnTo>
                  <a:close/>
                </a:path>
                <a:path w="2675890" h="833754">
                  <a:moveTo>
                    <a:pt x="2650299" y="820712"/>
                  </a:moveTo>
                  <a:lnTo>
                    <a:pt x="25400" y="820712"/>
                  </a:lnTo>
                  <a:lnTo>
                    <a:pt x="25400" y="808012"/>
                  </a:lnTo>
                  <a:lnTo>
                    <a:pt x="2650299" y="808012"/>
                  </a:lnTo>
                  <a:lnTo>
                    <a:pt x="2650299" y="820712"/>
                  </a:lnTo>
                  <a:close/>
                </a:path>
                <a:path w="2675890" h="833754">
                  <a:moveTo>
                    <a:pt x="2675699" y="820712"/>
                  </a:moveTo>
                  <a:lnTo>
                    <a:pt x="2650299" y="820712"/>
                  </a:lnTo>
                  <a:lnTo>
                    <a:pt x="2662999" y="808012"/>
                  </a:lnTo>
                  <a:lnTo>
                    <a:pt x="2675699" y="808012"/>
                  </a:lnTo>
                  <a:lnTo>
                    <a:pt x="2675699" y="8207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12966192" y="6594347"/>
            <a:ext cx="2650490" cy="80772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509270" marR="92710" indent="-407034">
              <a:lnSpc>
                <a:spcPct val="100000"/>
              </a:lnSpc>
              <a:spcBef>
                <a:spcPts val="550"/>
              </a:spcBef>
            </a:pP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Melanocytic</a:t>
            </a:r>
            <a:r>
              <a:rPr sz="21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nevi</a:t>
            </a:r>
            <a:r>
              <a:rPr sz="21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Arial MT"/>
                <a:cs typeface="Arial MT"/>
              </a:rPr>
              <a:t>‘nv’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(327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 images)</a:t>
            </a:r>
            <a:endParaRPr sz="2100">
              <a:latin typeface="Arial MT"/>
              <a:cs typeface="Arial MT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12954165" y="7591387"/>
            <a:ext cx="2675890" cy="833755"/>
            <a:chOff x="12954165" y="7591387"/>
            <a:chExt cx="2675890" cy="833755"/>
          </a:xfrm>
        </p:grpSpPr>
        <p:sp>
          <p:nvSpPr>
            <p:cNvPr id="49" name="object 49"/>
            <p:cNvSpPr/>
            <p:nvPr/>
          </p:nvSpPr>
          <p:spPr>
            <a:xfrm>
              <a:off x="12966192" y="7604760"/>
              <a:ext cx="2650490" cy="807720"/>
            </a:xfrm>
            <a:custGeom>
              <a:avLst/>
              <a:gdLst/>
              <a:ahLst/>
              <a:cxnLst/>
              <a:rect l="l" t="t" r="r" b="b"/>
              <a:pathLst>
                <a:path w="2650490" h="807720">
                  <a:moveTo>
                    <a:pt x="2650236" y="807720"/>
                  </a:moveTo>
                  <a:lnTo>
                    <a:pt x="0" y="807720"/>
                  </a:lnTo>
                  <a:lnTo>
                    <a:pt x="0" y="0"/>
                  </a:lnTo>
                  <a:lnTo>
                    <a:pt x="2650236" y="0"/>
                  </a:lnTo>
                  <a:lnTo>
                    <a:pt x="2650236" y="807720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2954165" y="7591387"/>
              <a:ext cx="2675890" cy="833755"/>
            </a:xfrm>
            <a:custGeom>
              <a:avLst/>
              <a:gdLst/>
              <a:ahLst/>
              <a:cxnLst/>
              <a:rect l="l" t="t" r="r" b="b"/>
              <a:pathLst>
                <a:path w="2675890" h="833754">
                  <a:moveTo>
                    <a:pt x="2662999" y="833424"/>
                  </a:moveTo>
                  <a:lnTo>
                    <a:pt x="12700" y="833424"/>
                  </a:lnTo>
                  <a:lnTo>
                    <a:pt x="10223" y="833170"/>
                  </a:lnTo>
                  <a:lnTo>
                    <a:pt x="0" y="820724"/>
                  </a:lnTo>
                  <a:lnTo>
                    <a:pt x="0" y="12700"/>
                  </a:lnTo>
                  <a:lnTo>
                    <a:pt x="12700" y="0"/>
                  </a:lnTo>
                  <a:lnTo>
                    <a:pt x="2662999" y="0"/>
                  </a:lnTo>
                  <a:lnTo>
                    <a:pt x="2675699" y="12700"/>
                  </a:lnTo>
                  <a:lnTo>
                    <a:pt x="25400" y="12700"/>
                  </a:lnTo>
                  <a:lnTo>
                    <a:pt x="12700" y="25400"/>
                  </a:lnTo>
                  <a:lnTo>
                    <a:pt x="25400" y="25400"/>
                  </a:lnTo>
                  <a:lnTo>
                    <a:pt x="25400" y="808024"/>
                  </a:lnTo>
                  <a:lnTo>
                    <a:pt x="12700" y="808024"/>
                  </a:lnTo>
                  <a:lnTo>
                    <a:pt x="25400" y="820724"/>
                  </a:lnTo>
                  <a:lnTo>
                    <a:pt x="2675699" y="820724"/>
                  </a:lnTo>
                  <a:lnTo>
                    <a:pt x="2675458" y="823201"/>
                  </a:lnTo>
                  <a:lnTo>
                    <a:pt x="2665476" y="833170"/>
                  </a:lnTo>
                  <a:lnTo>
                    <a:pt x="2662999" y="833424"/>
                  </a:lnTo>
                  <a:close/>
                </a:path>
                <a:path w="2675890" h="833754">
                  <a:moveTo>
                    <a:pt x="25400" y="25400"/>
                  </a:moveTo>
                  <a:lnTo>
                    <a:pt x="12700" y="25400"/>
                  </a:lnTo>
                  <a:lnTo>
                    <a:pt x="25400" y="12700"/>
                  </a:lnTo>
                  <a:lnTo>
                    <a:pt x="25400" y="25400"/>
                  </a:lnTo>
                  <a:close/>
                </a:path>
                <a:path w="2675890" h="833754">
                  <a:moveTo>
                    <a:pt x="2650299" y="25400"/>
                  </a:moveTo>
                  <a:lnTo>
                    <a:pt x="25400" y="25400"/>
                  </a:lnTo>
                  <a:lnTo>
                    <a:pt x="25400" y="12700"/>
                  </a:lnTo>
                  <a:lnTo>
                    <a:pt x="2650299" y="12700"/>
                  </a:lnTo>
                  <a:lnTo>
                    <a:pt x="2650299" y="25400"/>
                  </a:lnTo>
                  <a:close/>
                </a:path>
                <a:path w="2675890" h="833754">
                  <a:moveTo>
                    <a:pt x="2650299" y="820724"/>
                  </a:moveTo>
                  <a:lnTo>
                    <a:pt x="2650299" y="12700"/>
                  </a:lnTo>
                  <a:lnTo>
                    <a:pt x="2662999" y="25400"/>
                  </a:lnTo>
                  <a:lnTo>
                    <a:pt x="2675699" y="25400"/>
                  </a:lnTo>
                  <a:lnTo>
                    <a:pt x="2675699" y="808024"/>
                  </a:lnTo>
                  <a:lnTo>
                    <a:pt x="2662999" y="808024"/>
                  </a:lnTo>
                  <a:lnTo>
                    <a:pt x="2650299" y="820724"/>
                  </a:lnTo>
                  <a:close/>
                </a:path>
                <a:path w="2675890" h="833754">
                  <a:moveTo>
                    <a:pt x="2675699" y="25400"/>
                  </a:moveTo>
                  <a:lnTo>
                    <a:pt x="2662999" y="25400"/>
                  </a:lnTo>
                  <a:lnTo>
                    <a:pt x="2650299" y="12700"/>
                  </a:lnTo>
                  <a:lnTo>
                    <a:pt x="2675699" y="12700"/>
                  </a:lnTo>
                  <a:lnTo>
                    <a:pt x="2675699" y="25400"/>
                  </a:lnTo>
                  <a:close/>
                </a:path>
                <a:path w="2675890" h="833754">
                  <a:moveTo>
                    <a:pt x="25400" y="820724"/>
                  </a:moveTo>
                  <a:lnTo>
                    <a:pt x="12700" y="808024"/>
                  </a:lnTo>
                  <a:lnTo>
                    <a:pt x="25400" y="808024"/>
                  </a:lnTo>
                  <a:lnTo>
                    <a:pt x="25400" y="820724"/>
                  </a:lnTo>
                  <a:close/>
                </a:path>
                <a:path w="2675890" h="833754">
                  <a:moveTo>
                    <a:pt x="2650299" y="820724"/>
                  </a:moveTo>
                  <a:lnTo>
                    <a:pt x="25400" y="820724"/>
                  </a:lnTo>
                  <a:lnTo>
                    <a:pt x="25400" y="808024"/>
                  </a:lnTo>
                  <a:lnTo>
                    <a:pt x="2650299" y="808024"/>
                  </a:lnTo>
                  <a:lnTo>
                    <a:pt x="2650299" y="820724"/>
                  </a:lnTo>
                  <a:close/>
                </a:path>
                <a:path w="2675890" h="833754">
                  <a:moveTo>
                    <a:pt x="2675699" y="820724"/>
                  </a:moveTo>
                  <a:lnTo>
                    <a:pt x="2650299" y="820724"/>
                  </a:lnTo>
                  <a:lnTo>
                    <a:pt x="2662999" y="808024"/>
                  </a:lnTo>
                  <a:lnTo>
                    <a:pt x="2675699" y="808024"/>
                  </a:lnTo>
                  <a:lnTo>
                    <a:pt x="2675699" y="8207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12966192" y="7604759"/>
            <a:ext cx="2650490" cy="80772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75895" marR="167005" indent="133350">
              <a:lnSpc>
                <a:spcPct val="100000"/>
              </a:lnSpc>
              <a:spcBef>
                <a:spcPts val="550"/>
              </a:spcBef>
            </a:pP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Vascular</a:t>
            </a:r>
            <a:r>
              <a:rPr sz="21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Lesions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‘vasc’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(142</a:t>
            </a:r>
            <a:r>
              <a:rPr sz="21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images)</a:t>
            </a:r>
            <a:endParaRPr sz="2100">
              <a:latin typeface="Arial MT"/>
              <a:cs typeface="Arial MT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12954165" y="8601405"/>
            <a:ext cx="2675890" cy="833755"/>
            <a:chOff x="12954165" y="8601405"/>
            <a:chExt cx="2675890" cy="833755"/>
          </a:xfrm>
        </p:grpSpPr>
        <p:sp>
          <p:nvSpPr>
            <p:cNvPr id="53" name="object 53"/>
            <p:cNvSpPr/>
            <p:nvPr/>
          </p:nvSpPr>
          <p:spPr>
            <a:xfrm>
              <a:off x="12966192" y="8613648"/>
              <a:ext cx="2650490" cy="809625"/>
            </a:xfrm>
            <a:custGeom>
              <a:avLst/>
              <a:gdLst/>
              <a:ahLst/>
              <a:cxnLst/>
              <a:rect l="l" t="t" r="r" b="b"/>
              <a:pathLst>
                <a:path w="2650490" h="809625">
                  <a:moveTo>
                    <a:pt x="2650236" y="809244"/>
                  </a:moveTo>
                  <a:lnTo>
                    <a:pt x="0" y="809244"/>
                  </a:lnTo>
                  <a:lnTo>
                    <a:pt x="0" y="0"/>
                  </a:lnTo>
                  <a:lnTo>
                    <a:pt x="2650236" y="0"/>
                  </a:lnTo>
                  <a:lnTo>
                    <a:pt x="2650236" y="809244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2954165" y="8601405"/>
              <a:ext cx="2675890" cy="833755"/>
            </a:xfrm>
            <a:custGeom>
              <a:avLst/>
              <a:gdLst/>
              <a:ahLst/>
              <a:cxnLst/>
              <a:rect l="l" t="t" r="r" b="b"/>
              <a:pathLst>
                <a:path w="2675890" h="833754">
                  <a:moveTo>
                    <a:pt x="2662999" y="833424"/>
                  </a:moveTo>
                  <a:lnTo>
                    <a:pt x="12700" y="833424"/>
                  </a:lnTo>
                  <a:lnTo>
                    <a:pt x="10223" y="833183"/>
                  </a:lnTo>
                  <a:lnTo>
                    <a:pt x="0" y="820724"/>
                  </a:lnTo>
                  <a:lnTo>
                    <a:pt x="0" y="12700"/>
                  </a:lnTo>
                  <a:lnTo>
                    <a:pt x="12700" y="0"/>
                  </a:lnTo>
                  <a:lnTo>
                    <a:pt x="2662999" y="0"/>
                  </a:lnTo>
                  <a:lnTo>
                    <a:pt x="2675699" y="12700"/>
                  </a:lnTo>
                  <a:lnTo>
                    <a:pt x="25400" y="12700"/>
                  </a:lnTo>
                  <a:lnTo>
                    <a:pt x="12700" y="25400"/>
                  </a:lnTo>
                  <a:lnTo>
                    <a:pt x="25400" y="25400"/>
                  </a:lnTo>
                  <a:lnTo>
                    <a:pt x="25400" y="808024"/>
                  </a:lnTo>
                  <a:lnTo>
                    <a:pt x="12700" y="808024"/>
                  </a:lnTo>
                  <a:lnTo>
                    <a:pt x="25400" y="820724"/>
                  </a:lnTo>
                  <a:lnTo>
                    <a:pt x="2675699" y="820724"/>
                  </a:lnTo>
                  <a:lnTo>
                    <a:pt x="2675458" y="823201"/>
                  </a:lnTo>
                  <a:lnTo>
                    <a:pt x="2665476" y="833183"/>
                  </a:lnTo>
                  <a:lnTo>
                    <a:pt x="2662999" y="833424"/>
                  </a:lnTo>
                  <a:close/>
                </a:path>
                <a:path w="2675890" h="833754">
                  <a:moveTo>
                    <a:pt x="25400" y="25400"/>
                  </a:moveTo>
                  <a:lnTo>
                    <a:pt x="12700" y="25400"/>
                  </a:lnTo>
                  <a:lnTo>
                    <a:pt x="25400" y="12700"/>
                  </a:lnTo>
                  <a:lnTo>
                    <a:pt x="25400" y="25400"/>
                  </a:lnTo>
                  <a:close/>
                </a:path>
                <a:path w="2675890" h="833754">
                  <a:moveTo>
                    <a:pt x="2650299" y="25400"/>
                  </a:moveTo>
                  <a:lnTo>
                    <a:pt x="25400" y="25400"/>
                  </a:lnTo>
                  <a:lnTo>
                    <a:pt x="25400" y="12700"/>
                  </a:lnTo>
                  <a:lnTo>
                    <a:pt x="2650299" y="12700"/>
                  </a:lnTo>
                  <a:lnTo>
                    <a:pt x="2650299" y="25400"/>
                  </a:lnTo>
                  <a:close/>
                </a:path>
                <a:path w="2675890" h="833754">
                  <a:moveTo>
                    <a:pt x="2650299" y="820724"/>
                  </a:moveTo>
                  <a:lnTo>
                    <a:pt x="2650299" y="12700"/>
                  </a:lnTo>
                  <a:lnTo>
                    <a:pt x="2662999" y="25400"/>
                  </a:lnTo>
                  <a:lnTo>
                    <a:pt x="2675699" y="25400"/>
                  </a:lnTo>
                  <a:lnTo>
                    <a:pt x="2675699" y="808024"/>
                  </a:lnTo>
                  <a:lnTo>
                    <a:pt x="2662999" y="808024"/>
                  </a:lnTo>
                  <a:lnTo>
                    <a:pt x="2650299" y="820724"/>
                  </a:lnTo>
                  <a:close/>
                </a:path>
                <a:path w="2675890" h="833754">
                  <a:moveTo>
                    <a:pt x="2675699" y="25400"/>
                  </a:moveTo>
                  <a:lnTo>
                    <a:pt x="2662999" y="25400"/>
                  </a:lnTo>
                  <a:lnTo>
                    <a:pt x="2650299" y="12700"/>
                  </a:lnTo>
                  <a:lnTo>
                    <a:pt x="2675699" y="12700"/>
                  </a:lnTo>
                  <a:lnTo>
                    <a:pt x="2675699" y="25400"/>
                  </a:lnTo>
                  <a:close/>
                </a:path>
                <a:path w="2675890" h="833754">
                  <a:moveTo>
                    <a:pt x="25400" y="820724"/>
                  </a:moveTo>
                  <a:lnTo>
                    <a:pt x="12700" y="808024"/>
                  </a:lnTo>
                  <a:lnTo>
                    <a:pt x="25400" y="808024"/>
                  </a:lnTo>
                  <a:lnTo>
                    <a:pt x="25400" y="820724"/>
                  </a:lnTo>
                  <a:close/>
                </a:path>
                <a:path w="2675890" h="833754">
                  <a:moveTo>
                    <a:pt x="2650299" y="820724"/>
                  </a:moveTo>
                  <a:lnTo>
                    <a:pt x="25400" y="820724"/>
                  </a:lnTo>
                  <a:lnTo>
                    <a:pt x="25400" y="808024"/>
                  </a:lnTo>
                  <a:lnTo>
                    <a:pt x="2650299" y="808024"/>
                  </a:lnTo>
                  <a:lnTo>
                    <a:pt x="2650299" y="820724"/>
                  </a:lnTo>
                  <a:close/>
                </a:path>
                <a:path w="2675890" h="833754">
                  <a:moveTo>
                    <a:pt x="2675699" y="820724"/>
                  </a:moveTo>
                  <a:lnTo>
                    <a:pt x="2650299" y="820724"/>
                  </a:lnTo>
                  <a:lnTo>
                    <a:pt x="2662999" y="808024"/>
                  </a:lnTo>
                  <a:lnTo>
                    <a:pt x="2675699" y="808024"/>
                  </a:lnTo>
                  <a:lnTo>
                    <a:pt x="2675699" y="8207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12966192" y="8613647"/>
            <a:ext cx="2650490" cy="80962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242570" marR="92710" indent="-140335">
              <a:lnSpc>
                <a:spcPct val="100000"/>
              </a:lnSpc>
              <a:spcBef>
                <a:spcPts val="555"/>
              </a:spcBef>
            </a:pP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Basal</a:t>
            </a:r>
            <a:r>
              <a:rPr sz="21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cell</a:t>
            </a:r>
            <a:r>
              <a:rPr sz="21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carcinoma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‘bcc’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(115</a:t>
            </a:r>
            <a:r>
              <a:rPr sz="21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images)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761" y="761"/>
            <a:ext cx="18286730" cy="10285730"/>
          </a:xfrm>
          <a:custGeom>
            <a:avLst/>
            <a:gdLst/>
            <a:ahLst/>
            <a:cxnLst/>
            <a:rect l="l" t="t" r="r" b="b"/>
            <a:pathLst>
              <a:path w="18286730" h="10285730">
                <a:moveTo>
                  <a:pt x="0" y="0"/>
                </a:moveTo>
                <a:lnTo>
                  <a:pt x="18286476" y="0"/>
                </a:lnTo>
                <a:lnTo>
                  <a:pt x="18286476" y="10285476"/>
                </a:lnTo>
                <a:lnTo>
                  <a:pt x="0" y="10285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5015" y="1629410"/>
            <a:ext cx="4765675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000000"/>
                </a:solidFill>
                <a:latin typeface="Times New Roman"/>
                <a:cs typeface="Times New Roman"/>
              </a:rPr>
              <a:t>Feasibility</a:t>
            </a:r>
            <a:r>
              <a:rPr sz="4000" spc="-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4000" spc="-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000000"/>
                </a:solidFill>
                <a:latin typeface="Times New Roman"/>
                <a:cs typeface="Times New Roman"/>
              </a:rPr>
              <a:t>Solution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8227" y="2551252"/>
            <a:ext cx="13459460" cy="5026376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431165" indent="-418465">
              <a:lnSpc>
                <a:spcPct val="100000"/>
              </a:lnSpc>
              <a:spcBef>
                <a:spcPts val="235"/>
              </a:spcBef>
              <a:buClr>
                <a:srgbClr val="000000"/>
              </a:buClr>
              <a:buSzPct val="150000"/>
              <a:buFont typeface="Arial MT"/>
              <a:buChar char="●"/>
              <a:tabLst>
                <a:tab pos="431165" algn="l"/>
              </a:tabLst>
            </a:pPr>
            <a:r>
              <a:rPr lang="en-US" sz="2800" dirty="0">
                <a:solidFill>
                  <a:srgbClr val="0D0D0D"/>
                </a:solidFill>
                <a:latin typeface="Times New Roman"/>
                <a:cs typeface="Times New Roman"/>
              </a:rPr>
              <a:t>Deep CNN’s show strong potential in skin cancer image classification.</a:t>
            </a:r>
          </a:p>
          <a:p>
            <a:pPr marL="431165" indent="-418465">
              <a:lnSpc>
                <a:spcPct val="100000"/>
              </a:lnSpc>
              <a:spcBef>
                <a:spcPts val="235"/>
              </a:spcBef>
              <a:buClr>
                <a:srgbClr val="000000"/>
              </a:buClr>
              <a:buSzPct val="150000"/>
              <a:buFont typeface="Arial MT"/>
              <a:buChar char="●"/>
              <a:tabLst>
                <a:tab pos="431165" algn="l"/>
              </a:tabLst>
            </a:pPr>
            <a:endParaRPr lang="en-US" sz="2800" dirty="0">
              <a:solidFill>
                <a:srgbClr val="0D0D0D"/>
              </a:solidFill>
              <a:latin typeface="Times New Roman"/>
              <a:cs typeface="Times New Roman"/>
            </a:endParaRPr>
          </a:p>
          <a:p>
            <a:pPr marL="431165" indent="-418465">
              <a:lnSpc>
                <a:spcPct val="100000"/>
              </a:lnSpc>
              <a:spcBef>
                <a:spcPts val="235"/>
              </a:spcBef>
              <a:buClr>
                <a:srgbClr val="000000"/>
              </a:buClr>
              <a:buSzPct val="150000"/>
              <a:buFont typeface="Arial MT"/>
              <a:buChar char="●"/>
              <a:tabLst>
                <a:tab pos="431165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They effectively learn patterns to distinguish various skin lesions types.</a:t>
            </a:r>
          </a:p>
          <a:p>
            <a:pPr marL="431165" indent="-418465">
              <a:lnSpc>
                <a:spcPct val="100000"/>
              </a:lnSpc>
              <a:spcBef>
                <a:spcPts val="235"/>
              </a:spcBef>
              <a:buClr>
                <a:srgbClr val="000000"/>
              </a:buClr>
              <a:buSzPct val="150000"/>
              <a:buFont typeface="Arial MT"/>
              <a:buChar char="●"/>
              <a:tabLst>
                <a:tab pos="431165" algn="l"/>
              </a:tabLst>
            </a:pPr>
            <a:endParaRPr lang="en-US" sz="2800" dirty="0">
              <a:latin typeface="Times New Roman"/>
              <a:cs typeface="Times New Roman"/>
            </a:endParaRPr>
          </a:p>
          <a:p>
            <a:pPr marL="431165" indent="-418465">
              <a:lnSpc>
                <a:spcPct val="100000"/>
              </a:lnSpc>
              <a:spcBef>
                <a:spcPts val="235"/>
              </a:spcBef>
              <a:buClr>
                <a:srgbClr val="000000"/>
              </a:buClr>
              <a:buSzPct val="150000"/>
              <a:buFont typeface="Arial MT"/>
              <a:buChar char="●"/>
              <a:tabLst>
                <a:tab pos="431165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Performance can </a:t>
            </a:r>
            <a:r>
              <a:rPr lang="en-US" sz="2800">
                <a:latin typeface="Times New Roman"/>
                <a:cs typeface="Times New Roman"/>
              </a:rPr>
              <a:t>match to that </a:t>
            </a:r>
            <a:r>
              <a:rPr lang="en-US" sz="2800" dirty="0">
                <a:latin typeface="Times New Roman"/>
                <a:cs typeface="Times New Roman"/>
              </a:rPr>
              <a:t>of trained dermatologists.</a:t>
            </a:r>
          </a:p>
          <a:p>
            <a:pPr marL="431165" indent="-418465">
              <a:lnSpc>
                <a:spcPct val="100000"/>
              </a:lnSpc>
              <a:spcBef>
                <a:spcPts val="235"/>
              </a:spcBef>
              <a:buClr>
                <a:srgbClr val="000000"/>
              </a:buClr>
              <a:buSzPct val="150000"/>
              <a:buFont typeface="Arial MT"/>
              <a:buChar char="●"/>
              <a:tabLst>
                <a:tab pos="431165" algn="l"/>
              </a:tabLst>
            </a:pPr>
            <a:endParaRPr lang="en-US" sz="2800" dirty="0">
              <a:latin typeface="Times New Roman"/>
              <a:cs typeface="Times New Roman"/>
            </a:endParaRPr>
          </a:p>
          <a:p>
            <a:pPr marL="431165" indent="-418465">
              <a:lnSpc>
                <a:spcPct val="100000"/>
              </a:lnSpc>
              <a:spcBef>
                <a:spcPts val="235"/>
              </a:spcBef>
              <a:buClr>
                <a:srgbClr val="000000"/>
              </a:buClr>
              <a:buSzPct val="150000"/>
              <a:buFont typeface="Arial MT"/>
              <a:buChar char="●"/>
              <a:tabLst>
                <a:tab pos="431165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High-quality annotated datasets are crucial for reliable model training.</a:t>
            </a:r>
          </a:p>
          <a:p>
            <a:pPr marL="431165" indent="-418465">
              <a:lnSpc>
                <a:spcPct val="100000"/>
              </a:lnSpc>
              <a:spcBef>
                <a:spcPts val="235"/>
              </a:spcBef>
              <a:buClr>
                <a:srgbClr val="000000"/>
              </a:buClr>
              <a:buSzPct val="150000"/>
              <a:buFont typeface="Arial MT"/>
              <a:buChar char="●"/>
              <a:tabLst>
                <a:tab pos="431165" algn="l"/>
              </a:tabLst>
            </a:pPr>
            <a:endParaRPr lang="en-US" sz="2800" dirty="0">
              <a:latin typeface="Times New Roman"/>
              <a:cs typeface="Times New Roman"/>
            </a:endParaRPr>
          </a:p>
          <a:p>
            <a:pPr marL="431165" indent="-418465">
              <a:lnSpc>
                <a:spcPct val="100000"/>
              </a:lnSpc>
              <a:spcBef>
                <a:spcPts val="235"/>
              </a:spcBef>
              <a:buClr>
                <a:srgbClr val="000000"/>
              </a:buClr>
              <a:buSzPct val="150000"/>
              <a:buFont typeface="Arial MT"/>
              <a:buChar char="●"/>
              <a:tabLst>
                <a:tab pos="431165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Dataset size and diversity greatly impact CNN classification accuracy.</a:t>
            </a:r>
          </a:p>
          <a:p>
            <a:pPr marL="431165" indent="-418465">
              <a:lnSpc>
                <a:spcPct val="100000"/>
              </a:lnSpc>
              <a:spcBef>
                <a:spcPts val="235"/>
              </a:spcBef>
              <a:buClr>
                <a:srgbClr val="000000"/>
              </a:buClr>
              <a:buSzPct val="150000"/>
              <a:buFont typeface="Arial MT"/>
              <a:buChar char="●"/>
              <a:tabLst>
                <a:tab pos="431165" algn="l"/>
              </a:tabLst>
            </a:pPr>
            <a:endParaRPr lang="en-US" sz="2800" dirty="0">
              <a:latin typeface="Times New Roman"/>
              <a:cs typeface="Times New Roman"/>
            </a:endParaRPr>
          </a:p>
          <a:p>
            <a:pPr marL="431165" indent="-418465">
              <a:lnSpc>
                <a:spcPct val="100000"/>
              </a:lnSpc>
              <a:spcBef>
                <a:spcPts val="235"/>
              </a:spcBef>
              <a:buClr>
                <a:srgbClr val="000000"/>
              </a:buClr>
              <a:buSzPct val="150000"/>
              <a:buFont typeface="Arial MT"/>
              <a:buChar char="●"/>
              <a:tabLst>
                <a:tab pos="431165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CNNs enable fast, automated, and accurate skin cancer diagnosis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61" y="761"/>
            <a:ext cx="18286730" cy="10285730"/>
          </a:xfrm>
          <a:custGeom>
            <a:avLst/>
            <a:gdLst/>
            <a:ahLst/>
            <a:cxnLst/>
            <a:rect l="l" t="t" r="r" b="b"/>
            <a:pathLst>
              <a:path w="18286730" h="10285730">
                <a:moveTo>
                  <a:pt x="0" y="0"/>
                </a:moveTo>
                <a:lnTo>
                  <a:pt x="18286476" y="0"/>
                </a:lnTo>
                <a:lnTo>
                  <a:pt x="18286476" y="10285476"/>
                </a:lnTo>
                <a:lnTo>
                  <a:pt x="0" y="10285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2723" y="1097122"/>
            <a:ext cx="4455795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000000"/>
                </a:solidFill>
                <a:latin typeface="Times New Roman"/>
                <a:cs typeface="Times New Roman"/>
              </a:rPr>
              <a:t>Usability</a:t>
            </a:r>
            <a:r>
              <a:rPr sz="4000" spc="-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4000" spc="-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000000"/>
                </a:solidFill>
                <a:latin typeface="Times New Roman"/>
                <a:cs typeface="Times New Roman"/>
              </a:rPr>
              <a:t>Solution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6800" y="2263775"/>
            <a:ext cx="13459460" cy="71732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0" marR="5080" indent="-419100" algn="just">
              <a:lnSpc>
                <a:spcPct val="150000"/>
              </a:lnSpc>
              <a:spcBef>
                <a:spcPts val="100"/>
              </a:spcBef>
              <a:buSzPct val="150000"/>
              <a:buFont typeface="Arial MT"/>
              <a:buChar char="●"/>
              <a:tabLst>
                <a:tab pos="431800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Speed: CNNs enable fast, real-time skin lesion classification in clinics.</a:t>
            </a:r>
          </a:p>
          <a:p>
            <a:pPr marL="431800" marR="5080" indent="-419100" algn="just">
              <a:lnSpc>
                <a:spcPct val="150000"/>
              </a:lnSpc>
              <a:spcBef>
                <a:spcPts val="100"/>
              </a:spcBef>
              <a:buSzPct val="150000"/>
              <a:buFont typeface="Arial MT"/>
              <a:buChar char="●"/>
              <a:tabLst>
                <a:tab pos="431800" algn="l"/>
              </a:tabLst>
            </a:pPr>
            <a:endParaRPr lang="en-US" sz="2800" dirty="0">
              <a:latin typeface="Times New Roman"/>
              <a:cs typeface="Times New Roman"/>
            </a:endParaRPr>
          </a:p>
          <a:p>
            <a:pPr marL="431800" marR="5080" indent="-419100" algn="just">
              <a:lnSpc>
                <a:spcPct val="150000"/>
              </a:lnSpc>
              <a:spcBef>
                <a:spcPts val="100"/>
              </a:spcBef>
              <a:buSzPct val="150000"/>
              <a:buFont typeface="Arial MT"/>
              <a:buChar char="●"/>
              <a:tabLst>
                <a:tab pos="431800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Accuracy: CNNs achieve dermatologist-level performance in cancer detection task.</a:t>
            </a:r>
          </a:p>
          <a:p>
            <a:pPr marL="431800" marR="5080" indent="-419100" algn="just">
              <a:lnSpc>
                <a:spcPct val="150000"/>
              </a:lnSpc>
              <a:spcBef>
                <a:spcPts val="100"/>
              </a:spcBef>
              <a:buSzPct val="150000"/>
              <a:buFont typeface="Arial MT"/>
              <a:buChar char="●"/>
              <a:tabLst>
                <a:tab pos="431800" algn="l"/>
              </a:tabLst>
            </a:pPr>
            <a:endParaRPr lang="en-US" sz="2800" dirty="0">
              <a:latin typeface="Times New Roman"/>
              <a:cs typeface="Times New Roman"/>
            </a:endParaRPr>
          </a:p>
          <a:p>
            <a:pPr marL="431800" marR="5080" indent="-419100" algn="just">
              <a:lnSpc>
                <a:spcPct val="150000"/>
              </a:lnSpc>
              <a:spcBef>
                <a:spcPts val="100"/>
              </a:spcBef>
              <a:buSzPct val="150000"/>
              <a:buFont typeface="Arial MT"/>
              <a:buChar char="●"/>
              <a:tabLst>
                <a:tab pos="431800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Automation: Automates diagnosis, easing workload for medical professionals.</a:t>
            </a:r>
          </a:p>
          <a:p>
            <a:pPr marL="431800" marR="5080" indent="-419100" algn="just">
              <a:lnSpc>
                <a:spcPct val="150000"/>
              </a:lnSpc>
              <a:spcBef>
                <a:spcPts val="100"/>
              </a:spcBef>
              <a:buSzPct val="150000"/>
              <a:buFont typeface="Arial MT"/>
              <a:buChar char="●"/>
              <a:tabLst>
                <a:tab pos="431800" algn="l"/>
              </a:tabLst>
            </a:pPr>
            <a:endParaRPr lang="en-US" sz="2800" dirty="0">
              <a:latin typeface="Times New Roman"/>
              <a:cs typeface="Times New Roman"/>
            </a:endParaRPr>
          </a:p>
          <a:p>
            <a:pPr marL="431800" marR="5080" indent="-419100" algn="just">
              <a:lnSpc>
                <a:spcPct val="150000"/>
              </a:lnSpc>
              <a:spcBef>
                <a:spcPts val="100"/>
              </a:spcBef>
              <a:buSzPct val="150000"/>
              <a:buFont typeface="Arial MT"/>
              <a:buChar char="●"/>
              <a:tabLst>
                <a:tab pos="431800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Objectivity: Provides consistent, unbiased classification of skin lesions.</a:t>
            </a:r>
          </a:p>
          <a:p>
            <a:pPr marL="431800" marR="5080" indent="-419100" algn="just">
              <a:lnSpc>
                <a:spcPct val="150000"/>
              </a:lnSpc>
              <a:spcBef>
                <a:spcPts val="100"/>
              </a:spcBef>
              <a:buSzPct val="150000"/>
              <a:buFont typeface="Arial MT"/>
              <a:buChar char="●"/>
              <a:tabLst>
                <a:tab pos="431800" algn="l"/>
              </a:tabLst>
            </a:pPr>
            <a:endParaRPr lang="en-US" sz="2800" dirty="0">
              <a:latin typeface="Times New Roman"/>
              <a:cs typeface="Times New Roman"/>
            </a:endParaRPr>
          </a:p>
          <a:p>
            <a:pPr marL="431800" marR="5080" indent="-419100" algn="just">
              <a:lnSpc>
                <a:spcPct val="150000"/>
              </a:lnSpc>
              <a:spcBef>
                <a:spcPts val="100"/>
              </a:spcBef>
              <a:buSzPct val="150000"/>
              <a:buFont typeface="Arial MT"/>
              <a:buChar char="●"/>
              <a:tabLst>
                <a:tab pos="431800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Scalability:  Efficiently handles large datasets for widespread screening use.</a:t>
            </a:r>
          </a:p>
          <a:p>
            <a:pPr marL="431800" marR="5080" indent="-419100" algn="just">
              <a:lnSpc>
                <a:spcPct val="150000"/>
              </a:lnSpc>
              <a:spcBef>
                <a:spcPts val="100"/>
              </a:spcBef>
              <a:buSzPct val="150000"/>
              <a:buFont typeface="Arial MT"/>
              <a:buChar char="●"/>
              <a:tabLst>
                <a:tab pos="431800" algn="l"/>
              </a:tabLst>
            </a:pPr>
            <a:endParaRPr lang="en-US" sz="2800" dirty="0">
              <a:latin typeface="Times New Roman"/>
              <a:cs typeface="Times New Roman"/>
            </a:endParaRPr>
          </a:p>
          <a:p>
            <a:pPr marL="431800" marR="5080" indent="-419100" algn="just">
              <a:lnSpc>
                <a:spcPct val="150000"/>
              </a:lnSpc>
              <a:spcBef>
                <a:spcPts val="100"/>
              </a:spcBef>
              <a:buSzPct val="150000"/>
              <a:buFont typeface="Arial MT"/>
              <a:buChar char="●"/>
              <a:tabLst>
                <a:tab pos="431800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Integration: Easily integrates into clinical workflows for seamless diagnosis support </a:t>
            </a:r>
          </a:p>
        </p:txBody>
      </p:sp>
      <p:sp>
        <p:nvSpPr>
          <p:cNvPr id="6" name="object 6"/>
          <p:cNvSpPr/>
          <p:nvPr/>
        </p:nvSpPr>
        <p:spPr>
          <a:xfrm>
            <a:off x="761" y="761"/>
            <a:ext cx="18286730" cy="10285730"/>
          </a:xfrm>
          <a:custGeom>
            <a:avLst/>
            <a:gdLst/>
            <a:ahLst/>
            <a:cxnLst/>
            <a:rect l="l" t="t" r="r" b="b"/>
            <a:pathLst>
              <a:path w="18286730" h="10285730">
                <a:moveTo>
                  <a:pt x="0" y="0"/>
                </a:moveTo>
                <a:lnTo>
                  <a:pt x="18286476" y="0"/>
                </a:lnTo>
                <a:lnTo>
                  <a:pt x="18286476" y="10285476"/>
                </a:lnTo>
                <a:lnTo>
                  <a:pt x="0" y="10285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5FD893F-49B5-85DA-E5D0-A878EE7493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1481269"/>
              </p:ext>
            </p:extLst>
          </p:nvPr>
        </p:nvGraphicFramePr>
        <p:xfrm>
          <a:off x="2286000" y="2019300"/>
          <a:ext cx="13487400" cy="756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43700">
                  <a:extLst>
                    <a:ext uri="{9D8B030D-6E8A-4147-A177-3AD203B41FA5}">
                      <a16:colId xmlns:a16="http://schemas.microsoft.com/office/drawing/2014/main" val="4209608412"/>
                    </a:ext>
                  </a:extLst>
                </a:gridCol>
                <a:gridCol w="6743700">
                  <a:extLst>
                    <a:ext uri="{9D8B030D-6E8A-4147-A177-3AD203B41FA5}">
                      <a16:colId xmlns:a16="http://schemas.microsoft.com/office/drawing/2014/main" val="4135462816"/>
                    </a:ext>
                  </a:extLst>
                </a:gridCol>
              </a:tblGrid>
              <a:tr h="1513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6000" b="1" spc="-10" dirty="0">
                          <a:latin typeface="Arial"/>
                          <a:cs typeface="Arial"/>
                        </a:rPr>
                        <a:t>Advantages</a:t>
                      </a:r>
                      <a:endParaRPr lang="en-IN" sz="6000" dirty="0">
                        <a:latin typeface="Arial"/>
                        <a:cs typeface="Arial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5400" b="1" spc="-10" dirty="0">
                          <a:latin typeface="Arial"/>
                          <a:cs typeface="Arial"/>
                        </a:rPr>
                        <a:t>Disadvantages</a:t>
                      </a:r>
                      <a:endParaRPr lang="en-IN" sz="5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5058805"/>
                  </a:ext>
                </a:extLst>
              </a:tr>
              <a:tr h="1513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Arial MT"/>
                          <a:cs typeface="Arial MT"/>
                        </a:rPr>
                        <a:t>Analyze large images volumes quickly and accurately.</a:t>
                      </a:r>
                    </a:p>
                    <a:p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Arial MT"/>
                          <a:cs typeface="Arial MT"/>
                        </a:rPr>
                        <a:t>Requires high computational power and hardware.</a:t>
                      </a:r>
                    </a:p>
                    <a:p>
                      <a:pPr algn="ctr"/>
                      <a:endParaRPr lang="en-IN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0728027"/>
                  </a:ext>
                </a:extLst>
              </a:tr>
              <a:tr h="1513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Arial MT"/>
                          <a:cs typeface="Arial MT"/>
                        </a:rPr>
                        <a:t>Pre-trained models reduces training data requirement.</a:t>
                      </a:r>
                    </a:p>
                    <a:p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Arial MT"/>
                          <a:cs typeface="Arial MT"/>
                        </a:rPr>
                        <a:t>Depends on dataset quality and diversity.</a:t>
                      </a:r>
                    </a:p>
                    <a:p>
                      <a:pPr algn="ctr"/>
                      <a:endParaRPr lang="en-IN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914542"/>
                  </a:ext>
                </a:extLst>
              </a:tr>
              <a:tr h="1513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Arial MT"/>
                          <a:cs typeface="Arial MT"/>
                        </a:rPr>
                        <a:t>Fine-tuning boosts system efficiency and performance.</a:t>
                      </a:r>
                    </a:p>
                    <a:p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Arial MT"/>
                          <a:cs typeface="Arial MT"/>
                        </a:rPr>
                        <a:t>Models can be difficult to interpret.</a:t>
                      </a:r>
                    </a:p>
                    <a:p>
                      <a:pPr algn="ctr"/>
                      <a:endParaRPr lang="en-IN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9006498"/>
                  </a:ext>
                </a:extLst>
              </a:tr>
              <a:tr h="1513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Arial MT"/>
                          <a:cs typeface="Arial MT"/>
                        </a:rPr>
                        <a:t>HAM10000 dataset improves generalization across conditions </a:t>
                      </a:r>
                    </a:p>
                    <a:p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Arial MT"/>
                          <a:cs typeface="Arial MT"/>
                        </a:rPr>
                        <a:t>May lack biological insight into cancer.</a:t>
                      </a:r>
                    </a:p>
                    <a:p>
                      <a:pPr algn="ctr"/>
                      <a:endParaRPr lang="en-IN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994488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CE88962-1FDE-01A8-52FC-2406CB6ED407}"/>
              </a:ext>
            </a:extLst>
          </p:cNvPr>
          <p:cNvSpPr txBox="1"/>
          <p:nvPr/>
        </p:nvSpPr>
        <p:spPr>
          <a:xfrm>
            <a:off x="4457700" y="102870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dirty="0"/>
              <a:t>Advantages</a:t>
            </a:r>
            <a:r>
              <a:rPr lang="en-IN" sz="3200" spc="-70" dirty="0"/>
              <a:t> </a:t>
            </a:r>
            <a:r>
              <a:rPr lang="en-IN" sz="3200" dirty="0"/>
              <a:t>&amp;</a:t>
            </a:r>
            <a:r>
              <a:rPr lang="en-IN" sz="3200" spc="-60" dirty="0"/>
              <a:t> </a:t>
            </a:r>
            <a:r>
              <a:rPr lang="en-IN" sz="3200" spc="-10" dirty="0"/>
              <a:t>Disadvantages: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914232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2729" y="2510320"/>
            <a:ext cx="13649960" cy="6609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SzPct val="125000"/>
              <a:buFont typeface="Arial MT"/>
              <a:buChar char="•"/>
              <a:tabLst>
                <a:tab pos="355600" algn="l"/>
                <a:tab pos="1006475" algn="l"/>
                <a:tab pos="1461135" algn="l"/>
                <a:tab pos="1898650" algn="l"/>
                <a:tab pos="3911600" algn="l"/>
                <a:tab pos="4366260" algn="l"/>
                <a:tab pos="4821555" algn="l"/>
                <a:tab pos="5922645" algn="l"/>
                <a:tab pos="6130925" algn="l"/>
                <a:tab pos="8417560" algn="l"/>
                <a:tab pos="9345295" algn="l"/>
                <a:tab pos="10853420" algn="l"/>
                <a:tab pos="12919075" algn="l"/>
              </a:tabLst>
            </a:pPr>
            <a:r>
              <a:rPr sz="2400" spc="105" dirty="0">
                <a:latin typeface="Times New Roman"/>
                <a:cs typeface="Times New Roman"/>
              </a:rPr>
              <a:t>Ms.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70" dirty="0">
                <a:latin typeface="Times New Roman"/>
                <a:cs typeface="Times New Roman"/>
              </a:rPr>
              <a:t>H.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80" dirty="0">
                <a:latin typeface="Times New Roman"/>
                <a:cs typeface="Times New Roman"/>
              </a:rPr>
              <a:t>R.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175" dirty="0">
                <a:latin typeface="Times New Roman"/>
                <a:cs typeface="Times New Roman"/>
              </a:rPr>
              <a:t>Mhaske,</a:t>
            </a:r>
            <a:r>
              <a:rPr sz="2400" spc="-365" dirty="0">
                <a:latin typeface="Times New Roman"/>
                <a:cs typeface="Times New Roman"/>
              </a:rPr>
              <a:t> </a:t>
            </a:r>
            <a:r>
              <a:rPr sz="2400" spc="130" dirty="0">
                <a:latin typeface="Times New Roman"/>
                <a:cs typeface="Times New Roman"/>
              </a:rPr>
              <a:t>Mrs.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70" dirty="0">
                <a:latin typeface="Times New Roman"/>
                <a:cs typeface="Times New Roman"/>
              </a:rPr>
              <a:t>D.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70" dirty="0">
                <a:latin typeface="Times New Roman"/>
                <a:cs typeface="Times New Roman"/>
              </a:rPr>
              <a:t>A.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165" dirty="0">
                <a:latin typeface="Times New Roman"/>
                <a:cs typeface="Times New Roman"/>
              </a:rPr>
              <a:t>Phalke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,</a:t>
            </a:r>
            <a:r>
              <a:rPr sz="2400" dirty="0">
                <a:latin typeface="Times New Roman"/>
                <a:cs typeface="Times New Roman"/>
              </a:rPr>
              <a:t>	“</a:t>
            </a:r>
            <a:r>
              <a:rPr sz="2400" spc="-395" dirty="0">
                <a:latin typeface="Times New Roman"/>
                <a:cs typeface="Times New Roman"/>
              </a:rPr>
              <a:t> </a:t>
            </a:r>
            <a:r>
              <a:rPr sz="2400" spc="165" dirty="0">
                <a:latin typeface="Times New Roman"/>
                <a:cs typeface="Times New Roman"/>
              </a:rPr>
              <a:t>MELANOMA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130" dirty="0">
                <a:latin typeface="Times New Roman"/>
                <a:cs typeface="Times New Roman"/>
              </a:rPr>
              <a:t>SKIN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165" dirty="0">
                <a:latin typeface="Times New Roman"/>
                <a:cs typeface="Times New Roman"/>
              </a:rPr>
              <a:t>CANCER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175" dirty="0">
                <a:latin typeface="Times New Roman"/>
                <a:cs typeface="Times New Roman"/>
              </a:rPr>
              <a:t>DETECTION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100" dirty="0">
                <a:latin typeface="Times New Roman"/>
                <a:cs typeface="Times New Roman"/>
              </a:rPr>
              <a:t>AND </a:t>
            </a:r>
            <a:r>
              <a:rPr sz="2400" spc="-10" dirty="0">
                <a:latin typeface="Times New Roman"/>
                <a:cs typeface="Times New Roman"/>
              </a:rPr>
              <a:t>CLASSIFICATION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SUPERVISED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UNSUPERVISED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LEARNING”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2021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buSzPct val="125000"/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Dr.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S.Karpagavalli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,A.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Kalaivani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,"A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Deep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Ensemble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Model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Automated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Multiclass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Classification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Using </a:t>
            </a:r>
            <a:r>
              <a:rPr sz="2400" dirty="0">
                <a:latin typeface="Times New Roman"/>
                <a:cs typeface="Times New Roman"/>
              </a:rPr>
              <a:t>Dermoscopic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Images"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buSzPct val="125000"/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Cauvery</a:t>
            </a:r>
            <a:r>
              <a:rPr sz="2400" spc="2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</a:t>
            </a:r>
            <a:r>
              <a:rPr sz="2400" spc="2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2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</a:t>
            </a:r>
            <a:r>
              <a:rPr sz="2400" spc="2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</a:t>
            </a:r>
            <a:r>
              <a:rPr sz="2400" spc="2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Siddalinga</a:t>
            </a:r>
            <a:r>
              <a:rPr sz="2400" spc="2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swamy</a:t>
            </a:r>
            <a:r>
              <a:rPr sz="2400" spc="2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,Sameena</a:t>
            </a:r>
            <a:r>
              <a:rPr sz="2400" spc="2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Pathan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,"A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Multiclass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Skin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Lesion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classification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approach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Transfer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learning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convolutional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Neural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Network"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buSzPct val="125000"/>
              <a:buFont typeface="Arial MT"/>
              <a:buChar char="•"/>
              <a:tabLst>
                <a:tab pos="355600" algn="l"/>
              </a:tabLst>
            </a:pPr>
            <a:r>
              <a:rPr sz="2400" spc="50" dirty="0">
                <a:latin typeface="Times New Roman"/>
                <a:cs typeface="Times New Roman"/>
              </a:rPr>
              <a:t>Automatic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spc="55" dirty="0">
                <a:latin typeface="Times New Roman"/>
                <a:cs typeface="Times New Roman"/>
              </a:rPr>
              <a:t>Detection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spc="55" dirty="0">
                <a:latin typeface="Times New Roman"/>
                <a:cs typeface="Times New Roman"/>
              </a:rPr>
              <a:t>Melanoma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Yolo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Deep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Times New Roman"/>
                <a:cs typeface="Times New Roman"/>
              </a:rPr>
              <a:t>Convolutional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Times New Roman"/>
                <a:cs typeface="Times New Roman"/>
              </a:rPr>
              <a:t>Neural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Times New Roman"/>
                <a:cs typeface="Times New Roman"/>
              </a:rPr>
              <a:t>Networks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Yali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Nie1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spc="40" dirty="0">
                <a:latin typeface="Times New Roman"/>
                <a:cs typeface="Times New Roman"/>
              </a:rPr>
              <a:t>Paolo </a:t>
            </a:r>
            <a:r>
              <a:rPr sz="2400" dirty="0">
                <a:latin typeface="Times New Roman"/>
                <a:cs typeface="Times New Roman"/>
              </a:rPr>
              <a:t>Sommella2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Mattias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O’Nils1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Consolatina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Liguori2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Jan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Lundgren1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buSzPct val="125000"/>
              <a:buFont typeface="Arial MT"/>
              <a:buChar char="•"/>
              <a:tabLst>
                <a:tab pos="355600" algn="l"/>
                <a:tab pos="2604135" algn="l"/>
                <a:tab pos="3188335" algn="l"/>
                <a:tab pos="4117975" algn="l"/>
                <a:tab pos="5392420" algn="l"/>
                <a:tab pos="7433945" algn="l"/>
                <a:tab pos="8725535" algn="l"/>
                <a:tab pos="9874885" algn="l"/>
              </a:tabLst>
            </a:pPr>
            <a:r>
              <a:rPr sz="2400" spc="130" dirty="0">
                <a:latin typeface="Times New Roman"/>
                <a:cs typeface="Times New Roman"/>
              </a:rPr>
              <a:t>Classification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50" dirty="0">
                <a:latin typeface="Times New Roman"/>
                <a:cs typeface="Times New Roman"/>
              </a:rPr>
              <a:t>of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95" dirty="0">
                <a:latin typeface="Times New Roman"/>
                <a:cs typeface="Times New Roman"/>
              </a:rPr>
              <a:t>Skin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114" dirty="0">
                <a:latin typeface="Times New Roman"/>
                <a:cs typeface="Times New Roman"/>
              </a:rPr>
              <a:t>Cancer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130" dirty="0">
                <a:latin typeface="Times New Roman"/>
                <a:cs typeface="Times New Roman"/>
              </a:rPr>
              <a:t>Dermoscopic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114" dirty="0">
                <a:latin typeface="Times New Roman"/>
                <a:cs typeface="Times New Roman"/>
              </a:rPr>
              <a:t>Images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114" dirty="0">
                <a:latin typeface="Times New Roman"/>
                <a:cs typeface="Times New Roman"/>
              </a:rPr>
              <a:t>using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135" dirty="0">
                <a:latin typeface="Times New Roman"/>
                <a:cs typeface="Times New Roman"/>
              </a:rPr>
              <a:t>Transfer</a:t>
            </a:r>
            <a:r>
              <a:rPr sz="2400" spc="345" dirty="0">
                <a:latin typeface="Times New Roman"/>
                <a:cs typeface="Times New Roman"/>
              </a:rPr>
              <a:t> </a:t>
            </a:r>
            <a:r>
              <a:rPr sz="2400" spc="140" dirty="0">
                <a:latin typeface="Times New Roman"/>
                <a:cs typeface="Times New Roman"/>
              </a:rPr>
              <a:t>Learning</a:t>
            </a:r>
            <a:r>
              <a:rPr sz="2400" spc="345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Times New Roman"/>
                <a:cs typeface="Times New Roman"/>
              </a:rPr>
              <a:t>,Haseeb </a:t>
            </a:r>
            <a:r>
              <a:rPr sz="2400" dirty="0">
                <a:latin typeface="Times New Roman"/>
                <a:cs typeface="Times New Roman"/>
              </a:rPr>
              <a:t>Younis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,Muhammad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Hamza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Bhatti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,Muhammad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Azeem.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buSzPct val="125000"/>
              <a:buFont typeface="Arial MT"/>
              <a:buChar char="•"/>
              <a:tabLst>
                <a:tab pos="355600" algn="l"/>
              </a:tabLst>
            </a:pPr>
            <a:r>
              <a:rPr sz="2400" spc="165" dirty="0">
                <a:latin typeface="Times New Roman"/>
                <a:cs typeface="Times New Roman"/>
              </a:rPr>
              <a:t>Attention-</a:t>
            </a:r>
            <a:r>
              <a:rPr sz="2400" spc="145" dirty="0">
                <a:latin typeface="Times New Roman"/>
                <a:cs typeface="Times New Roman"/>
              </a:rPr>
              <a:t>guided</a:t>
            </a:r>
            <a:r>
              <a:rPr sz="2400" spc="390" dirty="0">
                <a:latin typeface="Times New Roman"/>
                <a:cs typeface="Times New Roman"/>
              </a:rPr>
              <a:t> </a:t>
            </a:r>
            <a:r>
              <a:rPr sz="2400" spc="130" dirty="0">
                <a:latin typeface="Times New Roman"/>
                <a:cs typeface="Times New Roman"/>
              </a:rPr>
              <a:t>deep</a:t>
            </a:r>
            <a:r>
              <a:rPr sz="2400" spc="395" dirty="0">
                <a:latin typeface="Times New Roman"/>
                <a:cs typeface="Times New Roman"/>
              </a:rPr>
              <a:t> </a:t>
            </a:r>
            <a:r>
              <a:rPr sz="2400" spc="160" dirty="0">
                <a:latin typeface="Times New Roman"/>
                <a:cs typeface="Times New Roman"/>
              </a:rPr>
              <a:t>convolutional</a:t>
            </a:r>
            <a:r>
              <a:rPr sz="2400" spc="390" dirty="0">
                <a:latin typeface="Times New Roman"/>
                <a:cs typeface="Times New Roman"/>
              </a:rPr>
              <a:t> </a:t>
            </a:r>
            <a:r>
              <a:rPr sz="2400" spc="145" dirty="0">
                <a:latin typeface="Times New Roman"/>
                <a:cs typeface="Times New Roman"/>
              </a:rPr>
              <a:t>neural</a:t>
            </a:r>
            <a:r>
              <a:rPr sz="2400" spc="385" dirty="0">
                <a:latin typeface="Times New Roman"/>
                <a:cs typeface="Times New Roman"/>
              </a:rPr>
              <a:t> </a:t>
            </a:r>
            <a:r>
              <a:rPr sz="2400" spc="150" dirty="0">
                <a:latin typeface="Times New Roman"/>
                <a:cs typeface="Times New Roman"/>
              </a:rPr>
              <a:t>networks</a:t>
            </a:r>
            <a:r>
              <a:rPr sz="2400" spc="395" dirty="0">
                <a:latin typeface="Times New Roman"/>
                <a:cs typeface="Times New Roman"/>
              </a:rPr>
              <a:t> </a:t>
            </a:r>
            <a:r>
              <a:rPr sz="2400" spc="110" dirty="0">
                <a:latin typeface="Times New Roman"/>
                <a:cs typeface="Times New Roman"/>
              </a:rPr>
              <a:t>for</a:t>
            </a:r>
            <a:r>
              <a:rPr sz="2400" spc="395" dirty="0">
                <a:latin typeface="Times New Roman"/>
                <a:cs typeface="Times New Roman"/>
              </a:rPr>
              <a:t> </a:t>
            </a:r>
            <a:r>
              <a:rPr sz="2400" spc="130" dirty="0">
                <a:latin typeface="Times New Roman"/>
                <a:cs typeface="Times New Roman"/>
              </a:rPr>
              <a:t>skin</a:t>
            </a:r>
            <a:r>
              <a:rPr sz="2400" spc="400" dirty="0">
                <a:latin typeface="Times New Roman"/>
                <a:cs typeface="Times New Roman"/>
              </a:rPr>
              <a:t> </a:t>
            </a:r>
            <a:r>
              <a:rPr sz="2400" spc="145" dirty="0">
                <a:latin typeface="Times New Roman"/>
                <a:cs typeface="Times New Roman"/>
              </a:rPr>
              <a:t>cancer</a:t>
            </a:r>
            <a:r>
              <a:rPr sz="2400" spc="405" dirty="0">
                <a:latin typeface="Times New Roman"/>
                <a:cs typeface="Times New Roman"/>
              </a:rPr>
              <a:t> </a:t>
            </a:r>
            <a:r>
              <a:rPr sz="2400" spc="165" dirty="0">
                <a:latin typeface="Times New Roman"/>
                <a:cs typeface="Times New Roman"/>
              </a:rPr>
              <a:t>classification,</a:t>
            </a:r>
            <a:r>
              <a:rPr sz="2400" spc="405" dirty="0">
                <a:latin typeface="Times New Roman"/>
                <a:cs typeface="Times New Roman"/>
              </a:rPr>
              <a:t> </a:t>
            </a:r>
            <a:r>
              <a:rPr sz="2400" spc="140" dirty="0">
                <a:latin typeface="Times New Roman"/>
                <a:cs typeface="Times New Roman"/>
              </a:rPr>
              <a:t>Arshiya </a:t>
            </a:r>
            <a:r>
              <a:rPr sz="2400" dirty="0">
                <a:latin typeface="Times New Roman"/>
                <a:cs typeface="Times New Roman"/>
              </a:rPr>
              <a:t>Aggrawal,Nisheet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Das,Indu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Sreedevi.</a:t>
            </a:r>
            <a:endParaRPr sz="2400">
              <a:latin typeface="Times New Roman"/>
              <a:cs typeface="Times New Roman"/>
            </a:endParaRPr>
          </a:p>
          <a:p>
            <a:pPr marL="355600" marR="73025" indent="-342900">
              <a:lnSpc>
                <a:spcPct val="100000"/>
              </a:lnSpc>
              <a:spcBef>
                <a:spcPts val="20"/>
              </a:spcBef>
              <a:buSzPct val="125000"/>
              <a:buFont typeface="Arial MT"/>
              <a:buChar char="•"/>
              <a:tabLst>
                <a:tab pos="355600" algn="l"/>
                <a:tab pos="11976735" algn="l"/>
              </a:tabLst>
            </a:pPr>
            <a:r>
              <a:rPr sz="2400" dirty="0">
                <a:latin typeface="Times New Roman"/>
                <a:cs typeface="Times New Roman"/>
              </a:rPr>
              <a:t>Deep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Convolutional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Neural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(DCNN)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Skin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Cancer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Classification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Nour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Aburaed</a:t>
            </a:r>
            <a:r>
              <a:rPr sz="2400" spc="-10" dirty="0">
                <a:latin typeface="MS UI Gothic"/>
                <a:cs typeface="MS UI Gothic"/>
              </a:rPr>
              <a:t>∗</a:t>
            </a:r>
            <a:r>
              <a:rPr sz="2400" dirty="0">
                <a:latin typeface="MS UI Gothic"/>
                <a:cs typeface="MS UI Gothic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10" dirty="0">
                <a:latin typeface="Times New Roman"/>
                <a:cs typeface="Times New Roman"/>
              </a:rPr>
              <a:t> Alavikunhu </a:t>
            </a:r>
            <a:r>
              <a:rPr sz="2400" dirty="0">
                <a:latin typeface="Times New Roman"/>
                <a:cs typeface="Times New Roman"/>
              </a:rPr>
              <a:t>Panthakkan</a:t>
            </a:r>
            <a:r>
              <a:rPr sz="2400" i="1" dirty="0">
                <a:latin typeface="Times New Roman"/>
                <a:cs typeface="Times New Roman"/>
              </a:rPr>
              <a:t>†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Mina</a:t>
            </a:r>
            <a:r>
              <a:rPr sz="2400" spc="-20" dirty="0">
                <a:latin typeface="Times New Roman"/>
                <a:cs typeface="Times New Roman"/>
              </a:rPr>
              <a:t> Al-</a:t>
            </a:r>
            <a:r>
              <a:rPr sz="2400" dirty="0">
                <a:latin typeface="Times New Roman"/>
                <a:cs typeface="Times New Roman"/>
              </a:rPr>
              <a:t>Saad</a:t>
            </a:r>
            <a:r>
              <a:rPr sz="2400" i="1" dirty="0">
                <a:latin typeface="Times New Roman"/>
                <a:cs typeface="Times New Roman"/>
              </a:rPr>
              <a:t>‡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Saad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Ali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Amin</a:t>
            </a:r>
            <a:r>
              <a:rPr sz="2400" i="1" dirty="0">
                <a:latin typeface="Arial"/>
                <a:cs typeface="Arial"/>
              </a:rPr>
              <a:t>§</a:t>
            </a:r>
            <a:r>
              <a:rPr sz="2400" i="1" spc="-85" dirty="0">
                <a:latin typeface="Arial"/>
                <a:cs typeface="Arial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Wathiq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Mansoor</a:t>
            </a:r>
            <a:r>
              <a:rPr sz="2400" i="1" spc="-10" dirty="0">
                <a:latin typeface="Times New Roman"/>
                <a:cs typeface="Times New Roman"/>
              </a:rPr>
              <a:t>¶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880"/>
              </a:lnSpc>
              <a:spcBef>
                <a:spcPts val="75"/>
              </a:spcBef>
              <a:buSzPct val="125000"/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Deep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Neural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Mobile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Dermoscopy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Application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Triaging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Skin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Cancer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Detection.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Ahmed Ech-</a:t>
            </a:r>
            <a:r>
              <a:rPr sz="2400" dirty="0">
                <a:latin typeface="Times New Roman"/>
                <a:cs typeface="Times New Roman"/>
              </a:rPr>
              <a:t>Cherif,Mohammed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Misbhauddin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,Mohammed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Ech-Cherif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880"/>
              </a:lnSpc>
              <a:buSzPct val="125000"/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Vijaya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Mishra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,Akash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Kumar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,Monika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Arora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"Deep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convolution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neural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1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automatic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multi- </a:t>
            </a:r>
            <a:r>
              <a:rPr sz="2400" dirty="0">
                <a:latin typeface="Times New Roman"/>
                <a:cs typeface="Times New Roman"/>
              </a:rPr>
              <a:t>class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classification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skin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cancer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dermoscopic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images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"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61" y="761"/>
            <a:ext cx="18286730" cy="10285730"/>
          </a:xfrm>
          <a:custGeom>
            <a:avLst/>
            <a:gdLst/>
            <a:ahLst/>
            <a:cxnLst/>
            <a:rect l="l" t="t" r="r" b="b"/>
            <a:pathLst>
              <a:path w="18286730" h="10285730">
                <a:moveTo>
                  <a:pt x="0" y="0"/>
                </a:moveTo>
                <a:lnTo>
                  <a:pt x="18286476" y="0"/>
                </a:lnTo>
                <a:lnTo>
                  <a:pt x="18286476" y="10285476"/>
                </a:lnTo>
                <a:lnTo>
                  <a:pt x="0" y="10285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29400" y="419100"/>
            <a:ext cx="3723640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Team</a:t>
            </a:r>
            <a:r>
              <a:rPr sz="4000" spc="-85" dirty="0"/>
              <a:t> </a:t>
            </a:r>
            <a:r>
              <a:rPr sz="4000" spc="-10" dirty="0"/>
              <a:t>Members</a:t>
            </a:r>
            <a:endParaRPr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9CED15-DD28-C343-38CF-CEE8703C709F}"/>
              </a:ext>
            </a:extLst>
          </p:cNvPr>
          <p:cNvSpPr txBox="1"/>
          <p:nvPr/>
        </p:nvSpPr>
        <p:spPr>
          <a:xfrm>
            <a:off x="2057400" y="5981700"/>
            <a:ext cx="436209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Kenneth Lobo</a:t>
            </a:r>
          </a:p>
          <a:p>
            <a:r>
              <a:rPr lang="en-US" sz="4800" dirty="0"/>
              <a:t>E23CSEU1418</a:t>
            </a:r>
            <a:endParaRPr lang="en-IN" sz="4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AC8E3-6575-FC14-078A-7D4161F7D0ED}"/>
              </a:ext>
            </a:extLst>
          </p:cNvPr>
          <p:cNvSpPr txBox="1"/>
          <p:nvPr/>
        </p:nvSpPr>
        <p:spPr>
          <a:xfrm>
            <a:off x="11005604" y="5963265"/>
            <a:ext cx="61722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dirty="0"/>
              <a:t>Soham Das </a:t>
            </a:r>
          </a:p>
          <a:p>
            <a:r>
              <a:rPr lang="en-IN" sz="4800" dirty="0"/>
              <a:t>E23CSEU1412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31BFF8-4B30-BF00-4452-771F441333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0" y="2171700"/>
            <a:ext cx="3352495" cy="33524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6C6C84-0144-DE38-A1FA-47C965AF54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2171700"/>
            <a:ext cx="3352495" cy="33524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88C6E7B-CA3D-45F4-5466-4CE849725BED}"/>
              </a:ext>
            </a:extLst>
          </p:cNvPr>
          <p:cNvSpPr txBox="1"/>
          <p:nvPr/>
        </p:nvSpPr>
        <p:spPr>
          <a:xfrm>
            <a:off x="12496800" y="9563100"/>
            <a:ext cx="55864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Mentor name: Shashi Shreya</a:t>
            </a:r>
            <a:endParaRPr lang="en-IN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31578" y="4324413"/>
            <a:ext cx="6517640" cy="1548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0" dirty="0">
                <a:solidFill>
                  <a:srgbClr val="00425D"/>
                </a:solidFill>
              </a:rPr>
              <a:t>Thank</a:t>
            </a:r>
            <a:r>
              <a:rPr sz="10000" spc="-295" dirty="0">
                <a:solidFill>
                  <a:srgbClr val="00425D"/>
                </a:solidFill>
              </a:rPr>
              <a:t> </a:t>
            </a:r>
            <a:r>
              <a:rPr sz="10000" spc="-25" dirty="0">
                <a:solidFill>
                  <a:srgbClr val="00425D"/>
                </a:solidFill>
              </a:rPr>
              <a:t>You</a:t>
            </a:r>
            <a:endParaRPr sz="10000"/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18286730" cy="10285730"/>
          </a:xfrm>
          <a:custGeom>
            <a:avLst/>
            <a:gdLst/>
            <a:ahLst/>
            <a:cxnLst/>
            <a:rect l="l" t="t" r="r" b="b"/>
            <a:pathLst>
              <a:path w="18286730" h="10285730">
                <a:moveTo>
                  <a:pt x="0" y="0"/>
                </a:moveTo>
                <a:lnTo>
                  <a:pt x="18286476" y="0"/>
                </a:lnTo>
                <a:lnTo>
                  <a:pt x="18286476" y="10285476"/>
                </a:lnTo>
                <a:lnTo>
                  <a:pt x="0" y="10285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885</TotalTime>
  <Words>805</Words>
  <Application>Microsoft Office PowerPoint</Application>
  <PresentationFormat>Custom</PresentationFormat>
  <Paragraphs>99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MS UI Gothic</vt:lpstr>
      <vt:lpstr>Arial</vt:lpstr>
      <vt:lpstr>Arial MT</vt:lpstr>
      <vt:lpstr>Calibri</vt:lpstr>
      <vt:lpstr>Google Sans</vt:lpstr>
      <vt:lpstr>Times New Roman</vt:lpstr>
      <vt:lpstr>Office Theme</vt:lpstr>
      <vt:lpstr>Skin Vision AI</vt:lpstr>
      <vt:lpstr>Problem Statement:</vt:lpstr>
      <vt:lpstr>Concept behind proposed solution</vt:lpstr>
      <vt:lpstr>Description of techniques and technology used in creative solution to reach a specific goal</vt:lpstr>
      <vt:lpstr>Project’s purpose and goals</vt:lpstr>
      <vt:lpstr>Prototype Model</vt:lpstr>
      <vt:lpstr>Feasibility of Solution</vt:lpstr>
      <vt:lpstr>Usability of Solution</vt:lpstr>
      <vt:lpstr>PowerPoint Presentation</vt:lpstr>
      <vt:lpstr>References:</vt:lpstr>
      <vt:lpstr>Team Members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KENNETH</dc:creator>
  <dc:description/>
  <cp:lastModifiedBy>Kenneth Lobo</cp:lastModifiedBy>
  <cp:revision>5</cp:revision>
  <dcterms:created xsi:type="dcterms:W3CDTF">2025-04-12T07:28:07Z</dcterms:created>
  <dcterms:modified xsi:type="dcterms:W3CDTF">2025-04-30T16:22:36Z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2023-04-24T00:00:00Z</vt:filetime>
  </property>
  <property fmtid="{D5CDD505-2E9C-101B-9397-08002B2CF9AE}" pid="3" name="Creator">
    <vt:lpwstr>WPS Presentation</vt:lpwstr>
  </property>
  <property fmtid="{D5CDD505-2E9C-101B-9397-08002B2CF9AE}" pid="4" name="LastSaved">
    <vt:filetime>2025-04-12T00:00:00Z</vt:filetime>
  </property>
  <property fmtid="{D5CDD505-2E9C-101B-9397-08002B2CF9AE}" pid="5" name="SourceModified">
    <vt:lpwstr>D:20230424203307+15'03'</vt:lpwstr>
  </property>
</Properties>
</file>